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2E"/>
        </a:solidFill>
      </p:bgPr>
    </p:bg>
    <p:spTree>
      <p:nvGrpSpPr>
        <p:cNvPr id="1" name=""/>
        <p:cNvGrpSpPr/>
        <p:nvPr/>
      </p:nvGrpSpPr>
      <p:grpSpPr>
        <a:xfrm>
          <a:off x="0" y="0"/>
          <a:ext cx="0" cy="0"/>
          <a:chOff x="0" y="0"/>
          <a:chExt cx="0" cy="0"/>
        </a:xfrm>
      </p:grpSpPr>
      <p:sp>
        <p:nvSpPr>
          <p:cNvPr id="2" name="Shape 0"/>
          <p:cNvSpPr/>
          <p:nvPr/>
        </p:nvSpPr>
        <p:spPr>
          <a:xfrm>
            <a:off x="6217920" y="-1097280"/>
            <a:ext cx="4572000" cy="4572000"/>
          </a:xfrm>
          <a:prstGeom prst="ellipse">
            <a:avLst/>
          </a:prstGeom>
          <a:solidFill>
            <a:srgbClr val="E8871A">
              <a:alpha val="12000"/>
            </a:srgbClr>
          </a:solidFill>
          <a:ln w="12700">
            <a:solidFill>
              <a:srgbClr val="E8871A">
                <a:alpha val="40000"/>
              </a:srgbClr>
            </a:solidFill>
            <a:prstDash val="solid"/>
          </a:ln>
        </p:spPr>
      </p:sp>
      <p:sp>
        <p:nvSpPr>
          <p:cNvPr id="3" name="Shape 1"/>
          <p:cNvSpPr/>
          <p:nvPr/>
        </p:nvSpPr>
        <p:spPr>
          <a:xfrm>
            <a:off x="6675120" y="-640080"/>
            <a:ext cx="3657600" cy="3657600"/>
          </a:xfrm>
          <a:prstGeom prst="ellipse">
            <a:avLst/>
          </a:prstGeom>
          <a:solidFill>
            <a:srgbClr val="F5C842">
              <a:alpha val="8000"/>
            </a:srgbClr>
          </a:solidFill>
          <a:ln w="12700">
            <a:solidFill>
              <a:srgbClr val="F5C842">
                <a:alpha val="50000"/>
              </a:srgbClr>
            </a:solidFill>
            <a:prstDash val="solid"/>
          </a:ln>
        </p:spPr>
      </p:sp>
      <p:sp>
        <p:nvSpPr>
          <p:cNvPr id="4" name="Shape 2"/>
          <p:cNvSpPr/>
          <p:nvPr/>
        </p:nvSpPr>
        <p:spPr>
          <a:xfrm>
            <a:off x="-1371600" y="2926080"/>
            <a:ext cx="3657600" cy="3657600"/>
          </a:xfrm>
          <a:prstGeom prst="ellipse">
            <a:avLst/>
          </a:prstGeom>
          <a:solidFill>
            <a:srgbClr val="2D1B69">
              <a:alpha val="40000"/>
            </a:srgbClr>
          </a:solidFill>
          <a:ln w="12700">
            <a:solidFill>
              <a:srgbClr val="E8871A">
                <a:alpha val="30000"/>
              </a:srgbClr>
            </a:solidFill>
            <a:prstDash val="solid"/>
          </a:ln>
        </p:spPr>
      </p:sp>
      <p:sp>
        <p:nvSpPr>
          <p:cNvPr id="5" name="Text 3"/>
          <p:cNvSpPr/>
          <p:nvPr/>
        </p:nvSpPr>
        <p:spPr>
          <a:xfrm>
            <a:off x="320040" y="91440"/>
            <a:ext cx="1097280" cy="1097280"/>
          </a:xfrm>
          <a:prstGeom prst="rect">
            <a:avLst/>
          </a:prstGeom>
          <a:noFill/>
          <a:ln/>
        </p:spPr>
        <p:txBody>
          <a:bodyPr wrap="square" rtlCol="0" anchor="ctr"/>
          <a:lstStyle/>
          <a:p>
            <a:pPr algn="ctr" indent="0" marL="0">
              <a:buNone/>
            </a:pPr>
            <a:r>
              <a:rPr lang="en-US" sz="4800" dirty="0">
                <a:solidFill>
                  <a:srgbClr val="E8871A">
                    <a:alpha val="80000"/>
                  </a:srgbClr>
                </a:solidFill>
                <a:latin typeface="Georgia" pitchFamily="34" charset="0"/>
                <a:ea typeface="Georgia" pitchFamily="34" charset="-122"/>
                <a:cs typeface="Georgia" pitchFamily="34" charset="-120"/>
              </a:rPr>
              <a:t>ॐ</a:t>
            </a:r>
            <a:endParaRPr lang="en-US" sz="4800" dirty="0"/>
          </a:p>
        </p:txBody>
      </p:sp>
      <p:sp>
        <p:nvSpPr>
          <p:cNvPr id="6" name="Text 4"/>
          <p:cNvSpPr/>
          <p:nvPr/>
        </p:nvSpPr>
        <p:spPr>
          <a:xfrm>
            <a:off x="457200" y="1005840"/>
            <a:ext cx="8229600" cy="822960"/>
          </a:xfrm>
          <a:prstGeom prst="rect">
            <a:avLst/>
          </a:prstGeom>
          <a:noFill/>
          <a:ln/>
        </p:spPr>
        <p:txBody>
          <a:bodyPr wrap="square" lIns="0" tIns="0" rIns="0" bIns="0" rtlCol="0" anchor="ctr"/>
          <a:lstStyle/>
          <a:p>
            <a:pPr algn="l" indent="0" marL="0">
              <a:buNone/>
            </a:pPr>
            <a:r>
              <a:rPr lang="en-US" sz="4400" b="1" dirty="0">
                <a:solidFill>
                  <a:srgbClr val="F5C842"/>
                </a:solidFill>
                <a:latin typeface="Georgia" pitchFamily="34" charset="0"/>
                <a:ea typeface="Georgia" pitchFamily="34" charset="-122"/>
                <a:cs typeface="Georgia" pitchFamily="34" charset="-120"/>
              </a:rPr>
              <a:t>Bhagavad Gita</a:t>
            </a:r>
            <a:endParaRPr lang="en-US" sz="4400" dirty="0"/>
          </a:p>
        </p:txBody>
      </p:sp>
      <p:sp>
        <p:nvSpPr>
          <p:cNvPr id="7" name="Text 5"/>
          <p:cNvSpPr/>
          <p:nvPr/>
        </p:nvSpPr>
        <p:spPr>
          <a:xfrm>
            <a:off x="457200" y="1783080"/>
            <a:ext cx="8229600" cy="777240"/>
          </a:xfrm>
          <a:prstGeom prst="rect">
            <a:avLst/>
          </a:prstGeom>
          <a:noFill/>
          <a:ln/>
        </p:spPr>
        <p:txBody>
          <a:bodyPr wrap="square" lIns="0" tIns="0" rIns="0" bIns="0"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AI Chatbot</a:t>
            </a:r>
            <a:endParaRPr lang="en-US" sz="4400" dirty="0"/>
          </a:p>
        </p:txBody>
      </p:sp>
      <p:sp>
        <p:nvSpPr>
          <p:cNvPr id="8" name="Text 6"/>
          <p:cNvSpPr/>
          <p:nvPr/>
        </p:nvSpPr>
        <p:spPr>
          <a:xfrm>
            <a:off x="457200" y="2633472"/>
            <a:ext cx="8229600" cy="365760"/>
          </a:xfrm>
          <a:prstGeom prst="rect">
            <a:avLst/>
          </a:prstGeom>
          <a:noFill/>
          <a:ln/>
        </p:spPr>
        <p:txBody>
          <a:bodyPr wrap="square" lIns="0" tIns="0" rIns="0" bIns="0" rtlCol="0" anchor="ctr"/>
          <a:lstStyle/>
          <a:p>
            <a:pPr algn="l" indent="0" marL="0">
              <a:buNone/>
            </a:pPr>
            <a:r>
              <a:rPr lang="en-US" sz="1400" i="1" dirty="0">
                <a:solidFill>
                  <a:srgbClr val="C4A96B"/>
                </a:solidFill>
                <a:latin typeface="Calibri" pitchFamily="34" charset="0"/>
                <a:ea typeface="Calibri" pitchFamily="34" charset="-122"/>
                <a:cs typeface="Calibri" pitchFamily="34" charset="-120"/>
              </a:rPr>
              <a:t>Wisdom of the Ages · Powered by Artificial Intelligence</a:t>
            </a:r>
            <a:endParaRPr lang="en-US" sz="1400" dirty="0"/>
          </a:p>
        </p:txBody>
      </p:sp>
      <p:sp>
        <p:nvSpPr>
          <p:cNvPr id="9" name="Shape 7"/>
          <p:cNvSpPr/>
          <p:nvPr/>
        </p:nvSpPr>
        <p:spPr>
          <a:xfrm>
            <a:off x="457200" y="3090672"/>
            <a:ext cx="4114800" cy="36576"/>
          </a:xfrm>
          <a:prstGeom prst="rect">
            <a:avLst/>
          </a:prstGeom>
          <a:solidFill>
            <a:srgbClr val="E8871A"/>
          </a:solidFill>
          <a:ln w="12700">
            <a:solidFill>
              <a:srgbClr val="E8871A"/>
            </a:solidFill>
            <a:prstDash val="solid"/>
          </a:ln>
        </p:spPr>
      </p:sp>
      <p:sp>
        <p:nvSpPr>
          <p:cNvPr id="10" name="Text 8"/>
          <p:cNvSpPr/>
          <p:nvPr/>
        </p:nvSpPr>
        <p:spPr>
          <a:xfrm>
            <a:off x="457200" y="3337560"/>
            <a:ext cx="8229600" cy="274320"/>
          </a:xfrm>
          <a:prstGeom prst="rect">
            <a:avLst/>
          </a:prstGeom>
          <a:noFill/>
          <a:ln/>
        </p:spPr>
        <p:txBody>
          <a:bodyPr wrap="square" lIns="0" tIns="0" rIns="0" bIns="0" rtlCol="0" anchor="ctr"/>
          <a:lstStyle/>
          <a:p>
            <a:pPr algn="l" indent="0" marL="0">
              <a:buNone/>
            </a:pPr>
            <a:r>
              <a:rPr lang="en-US" sz="1100" dirty="0">
                <a:solidFill>
                  <a:srgbClr val="C4A96B"/>
                </a:solidFill>
                <a:latin typeface="Calibri" pitchFamily="34" charset="0"/>
                <a:ea typeface="Calibri" pitchFamily="34" charset="-122"/>
                <a:cs typeface="Calibri" pitchFamily="34" charset="-120"/>
              </a:rPr>
              <a:t>Presented by:</a:t>
            </a:r>
            <a:endParaRPr lang="en-US" sz="1100" dirty="0"/>
          </a:p>
        </p:txBody>
      </p:sp>
      <p:sp>
        <p:nvSpPr>
          <p:cNvPr id="11" name="Text 9"/>
          <p:cNvSpPr/>
          <p:nvPr/>
        </p:nvSpPr>
        <p:spPr>
          <a:xfrm>
            <a:off x="457200" y="3639312"/>
            <a:ext cx="2011680" cy="320040"/>
          </a:xfrm>
          <a:prstGeom prst="rect">
            <a:avLst/>
          </a:prstGeom>
          <a:noFill/>
          <a:ln/>
        </p:spPr>
        <p:txBody>
          <a:bodyPr wrap="square" lIns="0" tIns="0" rIns="0" bIns="0" rtlCol="0" anchor="ctr"/>
          <a:lstStyle/>
          <a:p>
            <a:pPr algn="l" indent="0" marL="0">
              <a:buNone/>
            </a:pPr>
            <a:r>
              <a:rPr lang="en-US" sz="1200" b="1" dirty="0">
                <a:solidFill>
                  <a:srgbClr val="FFF8E7"/>
                </a:solidFill>
                <a:latin typeface="Calibri" pitchFamily="34" charset="0"/>
                <a:ea typeface="Calibri" pitchFamily="34" charset="-122"/>
                <a:cs typeface="Calibri" pitchFamily="34" charset="-120"/>
              </a:rPr>
              <a:t>Raghu Samartha</a:t>
            </a:r>
            <a:endParaRPr lang="en-US" sz="1200" dirty="0"/>
          </a:p>
        </p:txBody>
      </p:sp>
      <p:sp>
        <p:nvSpPr>
          <p:cNvPr id="12" name="Text 10"/>
          <p:cNvSpPr/>
          <p:nvPr/>
        </p:nvSpPr>
        <p:spPr>
          <a:xfrm>
            <a:off x="2606040" y="3639312"/>
            <a:ext cx="2011680" cy="320040"/>
          </a:xfrm>
          <a:prstGeom prst="rect">
            <a:avLst/>
          </a:prstGeom>
          <a:noFill/>
          <a:ln/>
        </p:spPr>
        <p:txBody>
          <a:bodyPr wrap="square" lIns="0" tIns="0" rIns="0" bIns="0" rtlCol="0" anchor="ctr"/>
          <a:lstStyle/>
          <a:p>
            <a:pPr algn="l" indent="0" marL="0">
              <a:buNone/>
            </a:pPr>
            <a:r>
              <a:rPr lang="en-US" sz="1200" b="1" dirty="0">
                <a:solidFill>
                  <a:srgbClr val="FFF8E7"/>
                </a:solidFill>
                <a:latin typeface="Calibri" pitchFamily="34" charset="0"/>
                <a:ea typeface="Calibri" pitchFamily="34" charset="-122"/>
                <a:cs typeface="Calibri" pitchFamily="34" charset="-120"/>
              </a:rPr>
              <a:t>Ponnanna SK</a:t>
            </a:r>
            <a:endParaRPr lang="en-US" sz="1200" dirty="0"/>
          </a:p>
        </p:txBody>
      </p:sp>
      <p:sp>
        <p:nvSpPr>
          <p:cNvPr id="13" name="Text 11"/>
          <p:cNvSpPr/>
          <p:nvPr/>
        </p:nvSpPr>
        <p:spPr>
          <a:xfrm>
            <a:off x="4754880" y="3639312"/>
            <a:ext cx="2011680" cy="320040"/>
          </a:xfrm>
          <a:prstGeom prst="rect">
            <a:avLst/>
          </a:prstGeom>
          <a:noFill/>
          <a:ln/>
        </p:spPr>
        <p:txBody>
          <a:bodyPr wrap="square" lIns="0" tIns="0" rIns="0" bIns="0" rtlCol="0" anchor="ctr"/>
          <a:lstStyle/>
          <a:p>
            <a:pPr algn="l" indent="0" marL="0">
              <a:buNone/>
            </a:pPr>
            <a:r>
              <a:rPr lang="en-US" sz="1200" b="1" dirty="0">
                <a:solidFill>
                  <a:srgbClr val="FFF8E7"/>
                </a:solidFill>
                <a:latin typeface="Calibri" pitchFamily="34" charset="0"/>
                <a:ea typeface="Calibri" pitchFamily="34" charset="-122"/>
                <a:cs typeface="Calibri" pitchFamily="34" charset="-120"/>
              </a:rPr>
              <a:t>Sujith D</a:t>
            </a:r>
            <a:endParaRPr lang="en-US" sz="1200" dirty="0"/>
          </a:p>
        </p:txBody>
      </p:sp>
      <p:sp>
        <p:nvSpPr>
          <p:cNvPr id="14" name="Text 12"/>
          <p:cNvSpPr/>
          <p:nvPr/>
        </p:nvSpPr>
        <p:spPr>
          <a:xfrm>
            <a:off x="6903720" y="3639312"/>
            <a:ext cx="2011680" cy="320040"/>
          </a:xfrm>
          <a:prstGeom prst="rect">
            <a:avLst/>
          </a:prstGeom>
          <a:noFill/>
          <a:ln/>
        </p:spPr>
        <p:txBody>
          <a:bodyPr wrap="square" lIns="0" tIns="0" rIns="0" bIns="0" rtlCol="0" anchor="ctr"/>
          <a:lstStyle/>
          <a:p>
            <a:pPr algn="l" indent="0" marL="0">
              <a:buNone/>
            </a:pPr>
            <a:r>
              <a:rPr lang="en-US" sz="1200" b="1" dirty="0">
                <a:solidFill>
                  <a:srgbClr val="FFF8E7"/>
                </a:solidFill>
                <a:latin typeface="Calibri" pitchFamily="34" charset="0"/>
                <a:ea typeface="Calibri" pitchFamily="34" charset="-122"/>
                <a:cs typeface="Calibri" pitchFamily="34" charset="-120"/>
              </a:rPr>
              <a:t>Tejas D Gowda</a:t>
            </a:r>
            <a:endParaRPr lang="en-US" sz="1200" dirty="0"/>
          </a:p>
        </p:txBody>
      </p:sp>
      <p:sp>
        <p:nvSpPr>
          <p:cNvPr id="15" name="Shape 13"/>
          <p:cNvSpPr/>
          <p:nvPr/>
        </p:nvSpPr>
        <p:spPr>
          <a:xfrm>
            <a:off x="8046720" y="0"/>
            <a:ext cx="1097280" cy="5143500"/>
          </a:xfrm>
          <a:prstGeom prst="rect">
            <a:avLst/>
          </a:prstGeom>
          <a:solidFill>
            <a:srgbClr val="2D1B69"/>
          </a:solidFill>
          <a:ln w="12700">
            <a:solidFill>
              <a:srgbClr val="2D1B69"/>
            </a:solidFill>
            <a:prstDash val="solid"/>
          </a:ln>
        </p:spPr>
      </p:sp>
      <p:sp>
        <p:nvSpPr>
          <p:cNvPr id="16" name="Text 14"/>
          <p:cNvSpPr/>
          <p:nvPr/>
        </p:nvSpPr>
        <p:spPr>
          <a:xfrm>
            <a:off x="8046720" y="2011680"/>
            <a:ext cx="1097280" cy="10972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0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871A"/>
          </a:solidFill>
          <a:ln w="12700">
            <a:solidFill>
              <a:srgbClr val="E8871A"/>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3000" b="1" dirty="0">
                <a:solidFill>
                  <a:srgbClr val="F5C842"/>
                </a:solidFill>
                <a:latin typeface="Georgia" pitchFamily="34" charset="0"/>
                <a:ea typeface="Georgia" pitchFamily="34" charset="-122"/>
                <a:cs typeface="Georgia" pitchFamily="34" charset="-120"/>
              </a:rPr>
              <a:t>Introduction</a:t>
            </a:r>
            <a:endParaRPr lang="en-US" sz="3000" dirty="0"/>
          </a:p>
        </p:txBody>
      </p:sp>
      <p:sp>
        <p:nvSpPr>
          <p:cNvPr id="4" name="Text 2"/>
          <p:cNvSpPr/>
          <p:nvPr/>
        </p:nvSpPr>
        <p:spPr>
          <a:xfrm>
            <a:off x="457200" y="1005840"/>
            <a:ext cx="4754880" cy="457200"/>
          </a:xfrm>
          <a:prstGeom prst="rect">
            <a:avLst/>
          </a:prstGeom>
          <a:noFill/>
          <a:ln/>
        </p:spPr>
        <p:txBody>
          <a:bodyPr wrap="square" lIns="0" tIns="0" rIns="0" bIns="0" rtlCol="0" anchor="ctr"/>
          <a:lstStyle/>
          <a:p>
            <a:pPr algn="l" indent="0" marL="0">
              <a:buNone/>
            </a:pPr>
            <a:r>
              <a:rPr lang="en-US" sz="1600" b="1" dirty="0">
                <a:solidFill>
                  <a:srgbClr val="E8871A"/>
                </a:solidFill>
                <a:latin typeface="Georgia" pitchFamily="34" charset="0"/>
                <a:ea typeface="Georgia" pitchFamily="34" charset="-122"/>
                <a:cs typeface="Georgia" pitchFamily="34" charset="-120"/>
              </a:rPr>
              <a:t>What is the Bhagavad Gita AI Chatbot?</a:t>
            </a:r>
            <a:endParaRPr lang="en-US" sz="1600" dirty="0"/>
          </a:p>
        </p:txBody>
      </p:sp>
      <p:sp>
        <p:nvSpPr>
          <p:cNvPr id="5" name="Text 3"/>
          <p:cNvSpPr/>
          <p:nvPr/>
        </p:nvSpPr>
        <p:spPr>
          <a:xfrm>
            <a:off x="457200" y="1554480"/>
            <a:ext cx="4663440" cy="2286000"/>
          </a:xfrm>
          <a:prstGeom prst="rect">
            <a:avLst/>
          </a:prstGeom>
          <a:noFill/>
          <a:ln/>
        </p:spPr>
        <p:txBody>
          <a:bodyPr wrap="square" rtlCol="0" anchor="t"/>
          <a:lstStyle/>
          <a:p>
            <a:pPr algn="l" indent="0" marL="0">
              <a:buNone/>
            </a:pPr>
            <a:r>
              <a:rPr lang="en-US" sz="1300" dirty="0">
                <a:solidFill>
                  <a:srgbClr val="FFF8E7"/>
                </a:solidFill>
                <a:latin typeface="Calibri" pitchFamily="34" charset="0"/>
                <a:ea typeface="Calibri" pitchFamily="34" charset="-122"/>
                <a:cs typeface="Calibri" pitchFamily="34" charset="-120"/>
              </a:rPr>
              <a:t>An intelligent conversational system that answers philosophical, ethical, and life-related questions using wisdom from the Bhagavad Gita — one of Hinduism's most sacred texts.</a:t>
            </a:r>
            <a:endParaRPr lang="en-US" sz="1300" dirty="0"/>
          </a:p>
          <a:p>
            <a:pPr algn="l" indent="0" marL="0">
              <a:buNone/>
            </a:pPr>
            <a:r>
              <a:rPr lang="en-US" sz="1300" dirty="0">
                <a:solidFill>
                  <a:srgbClr val="FFF8E7"/>
                </a:solidFill>
                <a:latin typeface="Calibri" pitchFamily="34" charset="0"/>
                <a:ea typeface="Calibri" pitchFamily="34" charset="-122"/>
                <a:cs typeface="Calibri" pitchFamily="34" charset="-120"/>
              </a:rPr>
              <a:t> </a:t>
            </a:r>
            <a:endParaRPr lang="en-US" sz="1300" dirty="0"/>
          </a:p>
          <a:p>
            <a:pPr algn="l" indent="0" marL="0">
              <a:buNone/>
            </a:pPr>
            <a:r>
              <a:rPr lang="en-US" sz="1300" dirty="0">
                <a:solidFill>
                  <a:srgbClr val="FFF8E7"/>
                </a:solidFill>
                <a:latin typeface="Calibri" pitchFamily="34" charset="0"/>
                <a:ea typeface="Calibri" pitchFamily="34" charset="-122"/>
                <a:cs typeface="Calibri" pitchFamily="34" charset="-120"/>
              </a:rPr>
              <a:t>The system maps user queries to relevant verses (shlokas), interprets them using AI, and presents insights in modern language.</a:t>
            </a:r>
            <a:endParaRPr lang="en-US" sz="1300" dirty="0"/>
          </a:p>
        </p:txBody>
      </p:sp>
      <p:sp>
        <p:nvSpPr>
          <p:cNvPr id="6" name="Shape 4"/>
          <p:cNvSpPr/>
          <p:nvPr/>
        </p:nvSpPr>
        <p:spPr>
          <a:xfrm>
            <a:off x="5577840" y="1005840"/>
            <a:ext cx="3108960" cy="1005840"/>
          </a:xfrm>
          <a:prstGeom prst="rect">
            <a:avLst/>
          </a:prstGeom>
          <a:solidFill>
            <a:srgbClr val="261550"/>
          </a:solidFill>
          <a:ln w="12700">
            <a:solidFill>
              <a:srgbClr val="E8871A"/>
            </a:solidFill>
            <a:prstDash val="solid"/>
          </a:ln>
        </p:spPr>
      </p:sp>
      <p:sp>
        <p:nvSpPr>
          <p:cNvPr id="7" name="Text 5"/>
          <p:cNvSpPr/>
          <p:nvPr/>
        </p:nvSpPr>
        <p:spPr>
          <a:xfrm>
            <a:off x="5577840" y="1051560"/>
            <a:ext cx="3108960" cy="502920"/>
          </a:xfrm>
          <a:prstGeom prst="rect">
            <a:avLst/>
          </a:prstGeom>
          <a:noFill/>
          <a:ln/>
        </p:spPr>
        <p:txBody>
          <a:bodyPr wrap="square" lIns="0" tIns="0" rIns="0" bIns="0" rtlCol="0" anchor="ctr"/>
          <a:lstStyle/>
          <a:p>
            <a:pPr algn="ctr" indent="0" marL="0">
              <a:buNone/>
            </a:pPr>
            <a:r>
              <a:rPr lang="en-US" sz="2800" b="1" dirty="0">
                <a:solidFill>
                  <a:srgbClr val="F5C842"/>
                </a:solidFill>
                <a:latin typeface="Georgia" pitchFamily="34" charset="0"/>
                <a:ea typeface="Georgia" pitchFamily="34" charset="-122"/>
                <a:cs typeface="Georgia" pitchFamily="34" charset="-120"/>
              </a:rPr>
              <a:t>700</a:t>
            </a:r>
            <a:endParaRPr lang="en-US" sz="2800" dirty="0"/>
          </a:p>
        </p:txBody>
      </p:sp>
      <p:sp>
        <p:nvSpPr>
          <p:cNvPr id="8" name="Text 6"/>
          <p:cNvSpPr/>
          <p:nvPr/>
        </p:nvSpPr>
        <p:spPr>
          <a:xfrm>
            <a:off x="5577840" y="1554480"/>
            <a:ext cx="3108960" cy="320040"/>
          </a:xfrm>
          <a:prstGeom prst="rect">
            <a:avLst/>
          </a:prstGeom>
          <a:noFill/>
          <a:ln/>
        </p:spPr>
        <p:txBody>
          <a:bodyPr wrap="square" lIns="0" tIns="0" rIns="0" bIns="0" rtlCol="0" anchor="ctr"/>
          <a:lstStyle/>
          <a:p>
            <a:pPr algn="ctr" indent="0" marL="0">
              <a:buNone/>
            </a:pPr>
            <a:r>
              <a:rPr lang="en-US" sz="1200" dirty="0">
                <a:solidFill>
                  <a:srgbClr val="C4A96B"/>
                </a:solidFill>
                <a:latin typeface="Calibri" pitchFamily="34" charset="0"/>
                <a:ea typeface="Calibri" pitchFamily="34" charset="-122"/>
                <a:cs typeface="Calibri" pitchFamily="34" charset="-120"/>
              </a:rPr>
              <a:t>Sanskrit Shlokas</a:t>
            </a:r>
            <a:endParaRPr lang="en-US" sz="1200" dirty="0"/>
          </a:p>
        </p:txBody>
      </p:sp>
      <p:sp>
        <p:nvSpPr>
          <p:cNvPr id="9" name="Shape 7"/>
          <p:cNvSpPr/>
          <p:nvPr/>
        </p:nvSpPr>
        <p:spPr>
          <a:xfrm>
            <a:off x="5577840" y="2240280"/>
            <a:ext cx="3108960" cy="1005840"/>
          </a:xfrm>
          <a:prstGeom prst="rect">
            <a:avLst/>
          </a:prstGeom>
          <a:solidFill>
            <a:srgbClr val="261550"/>
          </a:solidFill>
          <a:ln w="12700">
            <a:solidFill>
              <a:srgbClr val="E8871A"/>
            </a:solidFill>
            <a:prstDash val="solid"/>
          </a:ln>
        </p:spPr>
      </p:sp>
      <p:sp>
        <p:nvSpPr>
          <p:cNvPr id="10" name="Text 8"/>
          <p:cNvSpPr/>
          <p:nvPr/>
        </p:nvSpPr>
        <p:spPr>
          <a:xfrm>
            <a:off x="5577840" y="2286000"/>
            <a:ext cx="3108960" cy="502920"/>
          </a:xfrm>
          <a:prstGeom prst="rect">
            <a:avLst/>
          </a:prstGeom>
          <a:noFill/>
          <a:ln/>
        </p:spPr>
        <p:txBody>
          <a:bodyPr wrap="square" lIns="0" tIns="0" rIns="0" bIns="0" rtlCol="0" anchor="ctr"/>
          <a:lstStyle/>
          <a:p>
            <a:pPr algn="ctr" indent="0" marL="0">
              <a:buNone/>
            </a:pPr>
            <a:r>
              <a:rPr lang="en-US" sz="2800" b="1" dirty="0">
                <a:solidFill>
                  <a:srgbClr val="F5C842"/>
                </a:solidFill>
                <a:latin typeface="Georgia" pitchFamily="34" charset="0"/>
                <a:ea typeface="Georgia" pitchFamily="34" charset="-122"/>
                <a:cs typeface="Georgia" pitchFamily="34" charset="-120"/>
              </a:rPr>
              <a:t>18</a:t>
            </a:r>
            <a:endParaRPr lang="en-US" sz="2800" dirty="0"/>
          </a:p>
        </p:txBody>
      </p:sp>
      <p:sp>
        <p:nvSpPr>
          <p:cNvPr id="11" name="Text 9"/>
          <p:cNvSpPr/>
          <p:nvPr/>
        </p:nvSpPr>
        <p:spPr>
          <a:xfrm>
            <a:off x="5577840" y="2788920"/>
            <a:ext cx="3108960" cy="320040"/>
          </a:xfrm>
          <a:prstGeom prst="rect">
            <a:avLst/>
          </a:prstGeom>
          <a:noFill/>
          <a:ln/>
        </p:spPr>
        <p:txBody>
          <a:bodyPr wrap="square" lIns="0" tIns="0" rIns="0" bIns="0" rtlCol="0" anchor="ctr"/>
          <a:lstStyle/>
          <a:p>
            <a:pPr algn="ctr" indent="0" marL="0">
              <a:buNone/>
            </a:pPr>
            <a:r>
              <a:rPr lang="en-US" sz="1200" dirty="0">
                <a:solidFill>
                  <a:srgbClr val="C4A96B"/>
                </a:solidFill>
                <a:latin typeface="Calibri" pitchFamily="34" charset="0"/>
                <a:ea typeface="Calibri" pitchFamily="34" charset="-122"/>
                <a:cs typeface="Calibri" pitchFamily="34" charset="-120"/>
              </a:rPr>
              <a:t>Chapters (Adhyayas)</a:t>
            </a:r>
            <a:endParaRPr lang="en-US" sz="1200" dirty="0"/>
          </a:p>
        </p:txBody>
      </p:sp>
      <p:sp>
        <p:nvSpPr>
          <p:cNvPr id="12" name="Shape 10"/>
          <p:cNvSpPr/>
          <p:nvPr/>
        </p:nvSpPr>
        <p:spPr>
          <a:xfrm>
            <a:off x="5577840" y="3474720"/>
            <a:ext cx="3108960" cy="1005840"/>
          </a:xfrm>
          <a:prstGeom prst="rect">
            <a:avLst/>
          </a:prstGeom>
          <a:solidFill>
            <a:srgbClr val="261550"/>
          </a:solidFill>
          <a:ln w="12700">
            <a:solidFill>
              <a:srgbClr val="E8871A"/>
            </a:solidFill>
            <a:prstDash val="solid"/>
          </a:ln>
        </p:spPr>
      </p:sp>
      <p:sp>
        <p:nvSpPr>
          <p:cNvPr id="13" name="Text 11"/>
          <p:cNvSpPr/>
          <p:nvPr/>
        </p:nvSpPr>
        <p:spPr>
          <a:xfrm>
            <a:off x="5577840" y="3520440"/>
            <a:ext cx="3108960" cy="502920"/>
          </a:xfrm>
          <a:prstGeom prst="rect">
            <a:avLst/>
          </a:prstGeom>
          <a:noFill/>
          <a:ln/>
        </p:spPr>
        <p:txBody>
          <a:bodyPr wrap="square" lIns="0" tIns="0" rIns="0" bIns="0" rtlCol="0" anchor="ctr"/>
          <a:lstStyle/>
          <a:p>
            <a:pPr algn="ctr" indent="0" marL="0">
              <a:buNone/>
            </a:pPr>
            <a:r>
              <a:rPr lang="en-US" sz="2800" b="1" dirty="0">
                <a:solidFill>
                  <a:srgbClr val="F5C842"/>
                </a:solidFill>
                <a:latin typeface="Georgia" pitchFamily="34" charset="0"/>
                <a:ea typeface="Georgia" pitchFamily="34" charset="-122"/>
                <a:cs typeface="Georgia" pitchFamily="34" charset="-120"/>
              </a:rPr>
              <a:t>5000+</a:t>
            </a:r>
            <a:endParaRPr lang="en-US" sz="2800" dirty="0"/>
          </a:p>
        </p:txBody>
      </p:sp>
      <p:sp>
        <p:nvSpPr>
          <p:cNvPr id="14" name="Text 12"/>
          <p:cNvSpPr/>
          <p:nvPr/>
        </p:nvSpPr>
        <p:spPr>
          <a:xfrm>
            <a:off x="5577840" y="4023360"/>
            <a:ext cx="3108960" cy="320040"/>
          </a:xfrm>
          <a:prstGeom prst="rect">
            <a:avLst/>
          </a:prstGeom>
          <a:noFill/>
          <a:ln/>
        </p:spPr>
        <p:txBody>
          <a:bodyPr wrap="square" lIns="0" tIns="0" rIns="0" bIns="0" rtlCol="0" anchor="ctr"/>
          <a:lstStyle/>
          <a:p>
            <a:pPr algn="ctr" indent="0" marL="0">
              <a:buNone/>
            </a:pPr>
            <a:r>
              <a:rPr lang="en-US" sz="1200" dirty="0">
                <a:solidFill>
                  <a:srgbClr val="C4A96B"/>
                </a:solidFill>
                <a:latin typeface="Calibri" pitchFamily="34" charset="0"/>
                <a:ea typeface="Calibri" pitchFamily="34" charset="-122"/>
                <a:cs typeface="Calibri" pitchFamily="34" charset="-120"/>
              </a:rPr>
              <a:t>Years of Wisdom</a:t>
            </a:r>
            <a:endParaRPr lang="en-US" sz="1200" dirty="0"/>
          </a:p>
        </p:txBody>
      </p:sp>
      <p:sp>
        <p:nvSpPr>
          <p:cNvPr id="15" name="Shape 13"/>
          <p:cNvSpPr/>
          <p:nvPr/>
        </p:nvSpPr>
        <p:spPr>
          <a:xfrm>
            <a:off x="0" y="4846320"/>
            <a:ext cx="9144000" cy="73152"/>
          </a:xfrm>
          <a:prstGeom prst="rect">
            <a:avLst/>
          </a:prstGeom>
          <a:solidFill>
            <a:srgbClr val="2D1B69"/>
          </a:solidFill>
          <a:ln w="12700">
            <a:solidFill>
              <a:srgbClr val="2D1B69"/>
            </a:solidFill>
            <a:prstDash val="solid"/>
          </a:ln>
        </p:spPr>
      </p:sp>
      <p:sp>
        <p:nvSpPr>
          <p:cNvPr id="16" name="Text 14"/>
          <p:cNvSpPr/>
          <p:nvPr/>
        </p:nvSpPr>
        <p:spPr>
          <a:xfrm>
            <a:off x="0" y="4754880"/>
            <a:ext cx="9144000" cy="274320"/>
          </a:xfrm>
          <a:prstGeom prst="rect">
            <a:avLst/>
          </a:prstGeom>
          <a:noFill/>
          <a:ln/>
        </p:spPr>
        <p:txBody>
          <a:bodyPr wrap="square" lIns="0" tIns="0" rIns="0" bIns="0" rtlCol="0" anchor="ctr"/>
          <a:lstStyle/>
          <a:p>
            <a:pPr algn="ctr" indent="0" marL="0">
              <a:buNone/>
            </a:pPr>
            <a:r>
              <a:rPr lang="en-US" sz="1000" i="1" dirty="0">
                <a:solidFill>
                  <a:srgbClr val="C4A96B"/>
                </a:solidFill>
                <a:latin typeface="Calibri" pitchFamily="34" charset="0"/>
                <a:ea typeface="Calibri" pitchFamily="34" charset="-122"/>
                <a:cs typeface="Calibri" pitchFamily="34" charset="-120"/>
              </a:rPr>
              <a:t>Bridging Ancient Wisdom with Modern Technology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E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871A"/>
          </a:solidFill>
          <a:ln w="12700">
            <a:solidFill>
              <a:srgbClr val="E8871A"/>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3000" b="1" dirty="0">
                <a:solidFill>
                  <a:srgbClr val="1A0A2E"/>
                </a:solidFill>
                <a:latin typeface="Georgia" pitchFamily="34" charset="0"/>
                <a:ea typeface="Georgia" pitchFamily="34" charset="-122"/>
                <a:cs typeface="Georgia" pitchFamily="34" charset="-120"/>
              </a:rPr>
              <a:t>Problem Statement</a:t>
            </a:r>
            <a:endParaRPr lang="en-US" sz="3000" dirty="0"/>
          </a:p>
        </p:txBody>
      </p:sp>
      <p:sp>
        <p:nvSpPr>
          <p:cNvPr id="4" name="Shape 2"/>
          <p:cNvSpPr/>
          <p:nvPr/>
        </p:nvSpPr>
        <p:spPr>
          <a:xfrm>
            <a:off x="0" y="914400"/>
            <a:ext cx="4114800" cy="3931920"/>
          </a:xfrm>
          <a:prstGeom prst="rect">
            <a:avLst/>
          </a:prstGeom>
          <a:solidFill>
            <a:srgbClr val="1A0A2E"/>
          </a:solidFill>
          <a:ln w="12700">
            <a:solidFill>
              <a:srgbClr val="1A0A2E"/>
            </a:solidFill>
            <a:prstDash val="solid"/>
          </a:ln>
        </p:spPr>
      </p:sp>
      <p:sp>
        <p:nvSpPr>
          <p:cNvPr id="5" name="Text 3"/>
          <p:cNvSpPr/>
          <p:nvPr/>
        </p:nvSpPr>
        <p:spPr>
          <a:xfrm>
            <a:off x="182880" y="1097280"/>
            <a:ext cx="3749040" cy="411480"/>
          </a:xfrm>
          <a:prstGeom prst="rect">
            <a:avLst/>
          </a:prstGeom>
          <a:noFill/>
          <a:ln/>
        </p:spPr>
        <p:txBody>
          <a:bodyPr wrap="square" lIns="0" tIns="0" rIns="0" bIns="0" rtlCol="0" anchor="ctr"/>
          <a:lstStyle/>
          <a:p>
            <a:pPr algn="l" indent="0" marL="0">
              <a:buNone/>
            </a:pPr>
            <a:r>
              <a:rPr lang="en-US" sz="1800" b="1" dirty="0">
                <a:solidFill>
                  <a:srgbClr val="F5C842"/>
                </a:solidFill>
                <a:latin typeface="Georgia" pitchFamily="34" charset="0"/>
                <a:ea typeface="Georgia" pitchFamily="34" charset="-122"/>
                <a:cs typeface="Georgia" pitchFamily="34" charset="-120"/>
              </a:rPr>
              <a:t>The Gap</a:t>
            </a:r>
            <a:endParaRPr lang="en-US" sz="1800" dirty="0"/>
          </a:p>
        </p:txBody>
      </p:sp>
      <p:sp>
        <p:nvSpPr>
          <p:cNvPr id="6" name="Text 4"/>
          <p:cNvSpPr/>
          <p:nvPr/>
        </p:nvSpPr>
        <p:spPr>
          <a:xfrm>
            <a:off x="228600" y="1600200"/>
            <a:ext cx="3566160" cy="502920"/>
          </a:xfrm>
          <a:prstGeom prst="rect">
            <a:avLst/>
          </a:prstGeom>
          <a:noFill/>
          <a:ln/>
        </p:spPr>
        <p:txBody>
          <a:bodyPr wrap="square" lIns="0" tIns="0" rIns="0" bIns="0" rtlCol="0" anchor="ctr"/>
          <a:lstStyle/>
          <a:p>
            <a:pPr algn="l" indent="0" marL="0">
              <a:buNone/>
            </a:pPr>
            <a:r>
              <a:rPr lang="en-US" sz="1150" dirty="0">
                <a:solidFill>
                  <a:srgbClr val="F4A261"/>
                </a:solidFill>
                <a:latin typeface="Calibri" pitchFamily="34" charset="0"/>
                <a:ea typeface="Calibri" pitchFamily="34" charset="-122"/>
                <a:cs typeface="Calibri" pitchFamily="34" charset="-120"/>
              </a:rPr>
              <a:t>✗  Ancient texts are inaccessible to modern readers</a:t>
            </a:r>
            <a:endParaRPr lang="en-US" sz="1150" dirty="0"/>
          </a:p>
        </p:txBody>
      </p:sp>
      <p:sp>
        <p:nvSpPr>
          <p:cNvPr id="7" name="Text 5"/>
          <p:cNvSpPr/>
          <p:nvPr/>
        </p:nvSpPr>
        <p:spPr>
          <a:xfrm>
            <a:off x="228600" y="2167128"/>
            <a:ext cx="3566160" cy="502920"/>
          </a:xfrm>
          <a:prstGeom prst="rect">
            <a:avLst/>
          </a:prstGeom>
          <a:noFill/>
          <a:ln/>
        </p:spPr>
        <p:txBody>
          <a:bodyPr wrap="square" lIns="0" tIns="0" rIns="0" bIns="0" rtlCol="0" anchor="ctr"/>
          <a:lstStyle/>
          <a:p>
            <a:pPr algn="l" indent="0" marL="0">
              <a:buNone/>
            </a:pPr>
            <a:r>
              <a:rPr lang="en-US" sz="1150" dirty="0">
                <a:solidFill>
                  <a:srgbClr val="F4A261"/>
                </a:solidFill>
                <a:latin typeface="Calibri" pitchFamily="34" charset="0"/>
                <a:ea typeface="Calibri" pitchFamily="34" charset="-122"/>
                <a:cs typeface="Calibri" pitchFamily="34" charset="-120"/>
              </a:rPr>
              <a:t>✗  Sanskrit language barrier limits understanding</a:t>
            </a:r>
            <a:endParaRPr lang="en-US" sz="1150" dirty="0"/>
          </a:p>
        </p:txBody>
      </p:sp>
      <p:sp>
        <p:nvSpPr>
          <p:cNvPr id="8" name="Text 6"/>
          <p:cNvSpPr/>
          <p:nvPr/>
        </p:nvSpPr>
        <p:spPr>
          <a:xfrm>
            <a:off x="228600" y="2734056"/>
            <a:ext cx="3566160" cy="502920"/>
          </a:xfrm>
          <a:prstGeom prst="rect">
            <a:avLst/>
          </a:prstGeom>
          <a:noFill/>
          <a:ln/>
        </p:spPr>
        <p:txBody>
          <a:bodyPr wrap="square" lIns="0" tIns="0" rIns="0" bIns="0" rtlCol="0" anchor="ctr"/>
          <a:lstStyle/>
          <a:p>
            <a:pPr algn="l" indent="0" marL="0">
              <a:buNone/>
            </a:pPr>
            <a:r>
              <a:rPr lang="en-US" sz="1150" dirty="0">
                <a:solidFill>
                  <a:srgbClr val="F4A261"/>
                </a:solidFill>
                <a:latin typeface="Calibri" pitchFamily="34" charset="0"/>
                <a:ea typeface="Calibri" pitchFamily="34" charset="-122"/>
                <a:cs typeface="Calibri" pitchFamily="34" charset="-120"/>
              </a:rPr>
              <a:t>✗  Philosophical depth lost in poor translations</a:t>
            </a:r>
            <a:endParaRPr lang="en-US" sz="1150" dirty="0"/>
          </a:p>
        </p:txBody>
      </p:sp>
      <p:sp>
        <p:nvSpPr>
          <p:cNvPr id="9" name="Text 7"/>
          <p:cNvSpPr/>
          <p:nvPr/>
        </p:nvSpPr>
        <p:spPr>
          <a:xfrm>
            <a:off x="228600" y="3300984"/>
            <a:ext cx="3566160" cy="502920"/>
          </a:xfrm>
          <a:prstGeom prst="rect">
            <a:avLst/>
          </a:prstGeom>
          <a:noFill/>
          <a:ln/>
        </p:spPr>
        <p:txBody>
          <a:bodyPr wrap="square" lIns="0" tIns="0" rIns="0" bIns="0" rtlCol="0" anchor="ctr"/>
          <a:lstStyle/>
          <a:p>
            <a:pPr algn="l" indent="0" marL="0">
              <a:buNone/>
            </a:pPr>
            <a:r>
              <a:rPr lang="en-US" sz="1150" dirty="0">
                <a:solidFill>
                  <a:srgbClr val="F4A261"/>
                </a:solidFill>
                <a:latin typeface="Calibri" pitchFamily="34" charset="0"/>
                <a:ea typeface="Calibri" pitchFamily="34" charset="-122"/>
                <a:cs typeface="Calibri" pitchFamily="34" charset="-120"/>
              </a:rPr>
              <a:t>✗  No personalized guidance system exists</a:t>
            </a:r>
            <a:endParaRPr lang="en-US" sz="1150" dirty="0"/>
          </a:p>
        </p:txBody>
      </p:sp>
      <p:sp>
        <p:nvSpPr>
          <p:cNvPr id="10" name="Text 8"/>
          <p:cNvSpPr/>
          <p:nvPr/>
        </p:nvSpPr>
        <p:spPr>
          <a:xfrm>
            <a:off x="228600" y="3867912"/>
            <a:ext cx="3566160" cy="502920"/>
          </a:xfrm>
          <a:prstGeom prst="rect">
            <a:avLst/>
          </a:prstGeom>
          <a:noFill/>
          <a:ln/>
        </p:spPr>
        <p:txBody>
          <a:bodyPr wrap="square" lIns="0" tIns="0" rIns="0" bIns="0" rtlCol="0" anchor="ctr"/>
          <a:lstStyle/>
          <a:p>
            <a:pPr algn="l" indent="0" marL="0">
              <a:buNone/>
            </a:pPr>
            <a:r>
              <a:rPr lang="en-US" sz="1150" dirty="0">
                <a:solidFill>
                  <a:srgbClr val="F4A261"/>
                </a:solidFill>
                <a:latin typeface="Calibri" pitchFamily="34" charset="0"/>
                <a:ea typeface="Calibri" pitchFamily="34" charset="-122"/>
                <a:cs typeface="Calibri" pitchFamily="34" charset="-120"/>
              </a:rPr>
              <a:t>✗  Disconnection from cultural heritage</a:t>
            </a:r>
            <a:endParaRPr lang="en-US" sz="1150" dirty="0"/>
          </a:p>
        </p:txBody>
      </p:sp>
      <p:sp>
        <p:nvSpPr>
          <p:cNvPr id="11" name="Text 9"/>
          <p:cNvSpPr/>
          <p:nvPr/>
        </p:nvSpPr>
        <p:spPr>
          <a:xfrm>
            <a:off x="4572000" y="1097280"/>
            <a:ext cx="4297680" cy="411480"/>
          </a:xfrm>
          <a:prstGeom prst="rect">
            <a:avLst/>
          </a:prstGeom>
          <a:noFill/>
          <a:ln/>
        </p:spPr>
        <p:txBody>
          <a:bodyPr wrap="square" lIns="0" tIns="0" rIns="0" bIns="0" rtlCol="0" anchor="ctr"/>
          <a:lstStyle/>
          <a:p>
            <a:pPr algn="l" indent="0" marL="0">
              <a:buNone/>
            </a:pPr>
            <a:r>
              <a:rPr lang="en-US" sz="1800" b="1" dirty="0">
                <a:solidFill>
                  <a:srgbClr val="1A0A2E"/>
                </a:solidFill>
                <a:latin typeface="Georgia" pitchFamily="34" charset="0"/>
                <a:ea typeface="Georgia" pitchFamily="34" charset="-122"/>
                <a:cs typeface="Georgia" pitchFamily="34" charset="-120"/>
              </a:rPr>
              <a:t>Our Solution</a:t>
            </a:r>
            <a:endParaRPr lang="en-US" sz="1800" dirty="0"/>
          </a:p>
        </p:txBody>
      </p:sp>
      <p:sp>
        <p:nvSpPr>
          <p:cNvPr id="12" name="Shape 10"/>
          <p:cNvSpPr/>
          <p:nvPr/>
        </p:nvSpPr>
        <p:spPr>
          <a:xfrm>
            <a:off x="4572000" y="1600200"/>
            <a:ext cx="320040" cy="320040"/>
          </a:xfrm>
          <a:prstGeom prst="rect">
            <a:avLst/>
          </a:prstGeom>
          <a:solidFill>
            <a:srgbClr val="E8871A"/>
          </a:solidFill>
          <a:ln w="12700">
            <a:solidFill>
              <a:srgbClr val="E8871A"/>
            </a:solidFill>
            <a:prstDash val="solid"/>
          </a:ln>
        </p:spPr>
      </p:sp>
      <p:sp>
        <p:nvSpPr>
          <p:cNvPr id="13" name="Text 11"/>
          <p:cNvSpPr/>
          <p:nvPr/>
        </p:nvSpPr>
        <p:spPr>
          <a:xfrm>
            <a:off x="4983480" y="1600200"/>
            <a:ext cx="3840480" cy="411480"/>
          </a:xfrm>
          <a:prstGeom prst="rect">
            <a:avLst/>
          </a:prstGeom>
          <a:noFill/>
          <a:ln/>
        </p:spPr>
        <p:txBody>
          <a:bodyPr wrap="square" lIns="0" tIns="0" rIns="0" bIns="0" rtlCol="0" anchor="ctr"/>
          <a:lstStyle/>
          <a:p>
            <a:pPr algn="l" indent="0" marL="0">
              <a:buNone/>
            </a:pPr>
            <a:r>
              <a:rPr lang="en-US" sz="1150" dirty="0">
                <a:solidFill>
                  <a:srgbClr val="333333"/>
                </a:solidFill>
                <a:latin typeface="Calibri" pitchFamily="34" charset="0"/>
                <a:ea typeface="Calibri" pitchFamily="34" charset="-122"/>
                <a:cs typeface="Calibri" pitchFamily="34" charset="-120"/>
              </a:rPr>
              <a:t>AI-powered Q&amp;A grounded in Gita shlokas</a:t>
            </a:r>
            <a:endParaRPr lang="en-US" sz="1150" dirty="0"/>
          </a:p>
        </p:txBody>
      </p:sp>
      <p:sp>
        <p:nvSpPr>
          <p:cNvPr id="14" name="Shape 12"/>
          <p:cNvSpPr/>
          <p:nvPr/>
        </p:nvSpPr>
        <p:spPr>
          <a:xfrm>
            <a:off x="4572000" y="2167128"/>
            <a:ext cx="320040" cy="320040"/>
          </a:xfrm>
          <a:prstGeom prst="rect">
            <a:avLst/>
          </a:prstGeom>
          <a:solidFill>
            <a:srgbClr val="E8871A"/>
          </a:solidFill>
          <a:ln w="12700">
            <a:solidFill>
              <a:srgbClr val="E8871A"/>
            </a:solidFill>
            <a:prstDash val="solid"/>
          </a:ln>
        </p:spPr>
      </p:sp>
      <p:sp>
        <p:nvSpPr>
          <p:cNvPr id="15" name="Text 13"/>
          <p:cNvSpPr/>
          <p:nvPr/>
        </p:nvSpPr>
        <p:spPr>
          <a:xfrm>
            <a:off x="4983480" y="2167128"/>
            <a:ext cx="3840480" cy="411480"/>
          </a:xfrm>
          <a:prstGeom prst="rect">
            <a:avLst/>
          </a:prstGeom>
          <a:noFill/>
          <a:ln/>
        </p:spPr>
        <p:txBody>
          <a:bodyPr wrap="square" lIns="0" tIns="0" rIns="0" bIns="0" rtlCol="0" anchor="ctr"/>
          <a:lstStyle/>
          <a:p>
            <a:pPr algn="l" indent="0" marL="0">
              <a:buNone/>
            </a:pPr>
            <a:r>
              <a:rPr lang="en-US" sz="1150" dirty="0">
                <a:solidFill>
                  <a:srgbClr val="333333"/>
                </a:solidFill>
                <a:latin typeface="Calibri" pitchFamily="34" charset="0"/>
                <a:ea typeface="Calibri" pitchFamily="34" charset="-122"/>
                <a:cs typeface="Calibri" pitchFamily="34" charset="-120"/>
              </a:rPr>
              <a:t>English and regional language support</a:t>
            </a:r>
            <a:endParaRPr lang="en-US" sz="1150" dirty="0"/>
          </a:p>
        </p:txBody>
      </p:sp>
      <p:sp>
        <p:nvSpPr>
          <p:cNvPr id="16" name="Shape 14"/>
          <p:cNvSpPr/>
          <p:nvPr/>
        </p:nvSpPr>
        <p:spPr>
          <a:xfrm>
            <a:off x="4572000" y="2734056"/>
            <a:ext cx="320040" cy="320040"/>
          </a:xfrm>
          <a:prstGeom prst="rect">
            <a:avLst/>
          </a:prstGeom>
          <a:solidFill>
            <a:srgbClr val="E8871A"/>
          </a:solidFill>
          <a:ln w="12700">
            <a:solidFill>
              <a:srgbClr val="E8871A"/>
            </a:solidFill>
            <a:prstDash val="solid"/>
          </a:ln>
        </p:spPr>
      </p:sp>
      <p:sp>
        <p:nvSpPr>
          <p:cNvPr id="17" name="Text 15"/>
          <p:cNvSpPr/>
          <p:nvPr/>
        </p:nvSpPr>
        <p:spPr>
          <a:xfrm>
            <a:off x="4983480" y="2734056"/>
            <a:ext cx="3840480" cy="411480"/>
          </a:xfrm>
          <a:prstGeom prst="rect">
            <a:avLst/>
          </a:prstGeom>
          <a:noFill/>
          <a:ln/>
        </p:spPr>
        <p:txBody>
          <a:bodyPr wrap="square" lIns="0" tIns="0" rIns="0" bIns="0" rtlCol="0" anchor="ctr"/>
          <a:lstStyle/>
          <a:p>
            <a:pPr algn="l" indent="0" marL="0">
              <a:buNone/>
            </a:pPr>
            <a:r>
              <a:rPr lang="en-US" sz="1150" dirty="0">
                <a:solidFill>
                  <a:srgbClr val="333333"/>
                </a:solidFill>
                <a:latin typeface="Calibri" pitchFamily="34" charset="0"/>
                <a:ea typeface="Calibri" pitchFamily="34" charset="-122"/>
                <a:cs typeface="Calibri" pitchFamily="34" charset="-120"/>
              </a:rPr>
              <a:t>Context-aware philosophical insights</a:t>
            </a:r>
            <a:endParaRPr lang="en-US" sz="1150" dirty="0"/>
          </a:p>
        </p:txBody>
      </p:sp>
      <p:sp>
        <p:nvSpPr>
          <p:cNvPr id="18" name="Shape 16"/>
          <p:cNvSpPr/>
          <p:nvPr/>
        </p:nvSpPr>
        <p:spPr>
          <a:xfrm>
            <a:off x="4572000" y="3300984"/>
            <a:ext cx="320040" cy="320040"/>
          </a:xfrm>
          <a:prstGeom prst="rect">
            <a:avLst/>
          </a:prstGeom>
          <a:solidFill>
            <a:srgbClr val="E8871A"/>
          </a:solidFill>
          <a:ln w="12700">
            <a:solidFill>
              <a:srgbClr val="E8871A"/>
            </a:solidFill>
            <a:prstDash val="solid"/>
          </a:ln>
        </p:spPr>
      </p:sp>
      <p:sp>
        <p:nvSpPr>
          <p:cNvPr id="19" name="Text 17"/>
          <p:cNvSpPr/>
          <p:nvPr/>
        </p:nvSpPr>
        <p:spPr>
          <a:xfrm>
            <a:off x="4983480" y="3300984"/>
            <a:ext cx="3840480" cy="411480"/>
          </a:xfrm>
          <a:prstGeom prst="rect">
            <a:avLst/>
          </a:prstGeom>
          <a:noFill/>
          <a:ln/>
        </p:spPr>
        <p:txBody>
          <a:bodyPr wrap="square" lIns="0" tIns="0" rIns="0" bIns="0" rtlCol="0" anchor="ctr"/>
          <a:lstStyle/>
          <a:p>
            <a:pPr algn="l" indent="0" marL="0">
              <a:buNone/>
            </a:pPr>
            <a:r>
              <a:rPr lang="en-US" sz="1150" dirty="0">
                <a:solidFill>
                  <a:srgbClr val="333333"/>
                </a:solidFill>
                <a:latin typeface="Calibri" pitchFamily="34" charset="0"/>
                <a:ea typeface="Calibri" pitchFamily="34" charset="-122"/>
                <a:cs typeface="Calibri" pitchFamily="34" charset="-120"/>
              </a:rPr>
              <a:t>Personalized guidance for life situations</a:t>
            </a:r>
            <a:endParaRPr lang="en-US" sz="1150" dirty="0"/>
          </a:p>
        </p:txBody>
      </p:sp>
      <p:sp>
        <p:nvSpPr>
          <p:cNvPr id="20" name="Shape 18"/>
          <p:cNvSpPr/>
          <p:nvPr/>
        </p:nvSpPr>
        <p:spPr>
          <a:xfrm>
            <a:off x="4572000" y="3867912"/>
            <a:ext cx="320040" cy="320040"/>
          </a:xfrm>
          <a:prstGeom prst="rect">
            <a:avLst/>
          </a:prstGeom>
          <a:solidFill>
            <a:srgbClr val="E8871A"/>
          </a:solidFill>
          <a:ln w="12700">
            <a:solidFill>
              <a:srgbClr val="E8871A"/>
            </a:solidFill>
            <a:prstDash val="solid"/>
          </a:ln>
        </p:spPr>
      </p:sp>
      <p:sp>
        <p:nvSpPr>
          <p:cNvPr id="21" name="Text 19"/>
          <p:cNvSpPr/>
          <p:nvPr/>
        </p:nvSpPr>
        <p:spPr>
          <a:xfrm>
            <a:off x="4983480" y="3867912"/>
            <a:ext cx="3840480" cy="411480"/>
          </a:xfrm>
          <a:prstGeom prst="rect">
            <a:avLst/>
          </a:prstGeom>
          <a:noFill/>
          <a:ln/>
        </p:spPr>
        <p:txBody>
          <a:bodyPr wrap="square" lIns="0" tIns="0" rIns="0" bIns="0" rtlCol="0" anchor="ctr"/>
          <a:lstStyle/>
          <a:p>
            <a:pPr algn="l" indent="0" marL="0">
              <a:buNone/>
            </a:pPr>
            <a:r>
              <a:rPr lang="en-US" sz="1150" dirty="0">
                <a:solidFill>
                  <a:srgbClr val="333333"/>
                </a:solidFill>
                <a:latin typeface="Calibri" pitchFamily="34" charset="0"/>
                <a:ea typeface="Calibri" pitchFamily="34" charset="-122"/>
                <a:cs typeface="Calibri" pitchFamily="34" charset="-120"/>
              </a:rPr>
              <a:t>Preserving &amp; promoting Indian heritage</a:t>
            </a:r>
            <a:endParaRPr lang="en-US" sz="1150" dirty="0"/>
          </a:p>
        </p:txBody>
      </p:sp>
      <p:sp>
        <p:nvSpPr>
          <p:cNvPr id="22" name="Shape 20"/>
          <p:cNvSpPr/>
          <p:nvPr/>
        </p:nvSpPr>
        <p:spPr>
          <a:xfrm>
            <a:off x="0" y="4846320"/>
            <a:ext cx="9144000" cy="73152"/>
          </a:xfrm>
          <a:prstGeom prst="rect">
            <a:avLst/>
          </a:prstGeom>
          <a:solidFill>
            <a:srgbClr val="E8871A"/>
          </a:solidFill>
          <a:ln w="12700">
            <a:solidFill>
              <a:srgbClr val="E8871A"/>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0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C842"/>
          </a:solidFill>
          <a:ln w="12700">
            <a:solidFill>
              <a:srgbClr val="F5C842"/>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algn="l" indent="0" marL="0">
              <a:buNone/>
            </a:pPr>
            <a:r>
              <a:rPr lang="en-US" sz="3000" b="1" dirty="0">
                <a:solidFill>
                  <a:srgbClr val="F5C842"/>
                </a:solidFill>
                <a:latin typeface="Georgia" pitchFamily="34" charset="0"/>
                <a:ea typeface="Georgia" pitchFamily="34" charset="-122"/>
                <a:cs typeface="Georgia" pitchFamily="34" charset="-120"/>
              </a:rPr>
              <a:t>System Architecture</a:t>
            </a:r>
            <a:endParaRPr lang="en-US" sz="3000" dirty="0"/>
          </a:p>
        </p:txBody>
      </p:sp>
      <p:sp>
        <p:nvSpPr>
          <p:cNvPr id="4" name="Shape 2"/>
          <p:cNvSpPr/>
          <p:nvPr/>
        </p:nvSpPr>
        <p:spPr>
          <a:xfrm>
            <a:off x="182880" y="1005840"/>
            <a:ext cx="1737360" cy="1371600"/>
          </a:xfrm>
          <a:prstGeom prst="rect">
            <a:avLst/>
          </a:prstGeom>
          <a:solidFill>
            <a:srgbClr val="261550"/>
          </a:solidFill>
          <a:ln w="12700">
            <a:solidFill>
              <a:srgbClr val="E8871A"/>
            </a:solidFill>
            <a:prstDash val="solid"/>
          </a:ln>
        </p:spPr>
      </p:sp>
      <p:sp>
        <p:nvSpPr>
          <p:cNvPr id="5" name="Text 3"/>
          <p:cNvSpPr/>
          <p:nvPr/>
        </p:nvSpPr>
        <p:spPr>
          <a:xfrm>
            <a:off x="182880" y="1051560"/>
            <a:ext cx="1737360" cy="411480"/>
          </a:xfrm>
          <a:prstGeom prst="rect">
            <a:avLst/>
          </a:prstGeom>
          <a:noFill/>
          <a:ln/>
        </p:spPr>
        <p:txBody>
          <a:bodyPr wrap="square" lIns="0" tIns="0" rIns="0" bIns="0" rtlCol="0" anchor="ctr"/>
          <a:lstStyle/>
          <a:p>
            <a:pPr algn="ctr" indent="0" marL="0">
              <a:buNone/>
            </a:pPr>
            <a:r>
              <a:rPr lang="en-US" sz="1200" b="1" dirty="0">
                <a:solidFill>
                  <a:srgbClr val="F5C842"/>
                </a:solidFill>
                <a:latin typeface="Georgia" pitchFamily="34" charset="0"/>
                <a:ea typeface="Georgia" pitchFamily="34" charset="-122"/>
                <a:cs typeface="Georgia" pitchFamily="34" charset="-120"/>
              </a:rPr>
              <a:t>User Input</a:t>
            </a:r>
            <a:endParaRPr lang="en-US" sz="1200" dirty="0"/>
          </a:p>
        </p:txBody>
      </p:sp>
      <p:sp>
        <p:nvSpPr>
          <p:cNvPr id="6" name="Text 4"/>
          <p:cNvSpPr/>
          <p:nvPr/>
        </p:nvSpPr>
        <p:spPr>
          <a:xfrm>
            <a:off x="182880" y="1481328"/>
            <a:ext cx="1737360" cy="777240"/>
          </a:xfrm>
          <a:prstGeom prst="rect">
            <a:avLst/>
          </a:prstGeom>
          <a:noFill/>
          <a:ln/>
        </p:spPr>
        <p:txBody>
          <a:bodyPr wrap="square" lIns="0" tIns="0" rIns="0" bIns="0" rtlCol="0" anchor="ctr"/>
          <a:lstStyle/>
          <a:p>
            <a:pPr algn="ctr" indent="0" marL="0">
              <a:buNone/>
            </a:pPr>
            <a:r>
              <a:rPr lang="en-US" sz="1000" dirty="0">
                <a:solidFill>
                  <a:srgbClr val="FFF8E7"/>
                </a:solidFill>
                <a:latin typeface="Calibri" pitchFamily="34" charset="0"/>
                <a:ea typeface="Calibri" pitchFamily="34" charset="-122"/>
                <a:cs typeface="Calibri" pitchFamily="34" charset="-120"/>
              </a:rPr>
              <a:t>Text / Voice Query</a:t>
            </a:r>
            <a:endParaRPr lang="en-US" sz="1000" dirty="0"/>
          </a:p>
        </p:txBody>
      </p:sp>
      <p:sp>
        <p:nvSpPr>
          <p:cNvPr id="7" name="Shape 5"/>
          <p:cNvSpPr/>
          <p:nvPr/>
        </p:nvSpPr>
        <p:spPr>
          <a:xfrm>
            <a:off x="1938528" y="1664208"/>
            <a:ext cx="274320" cy="54864"/>
          </a:xfrm>
          <a:prstGeom prst="rect">
            <a:avLst/>
          </a:prstGeom>
          <a:solidFill>
            <a:srgbClr val="E8871A"/>
          </a:solidFill>
          <a:ln w="12700">
            <a:solidFill>
              <a:srgbClr val="E8871A"/>
            </a:solidFill>
            <a:prstDash val="solid"/>
          </a:ln>
        </p:spPr>
      </p:sp>
      <p:sp>
        <p:nvSpPr>
          <p:cNvPr id="8" name="Text 6"/>
          <p:cNvSpPr/>
          <p:nvPr/>
        </p:nvSpPr>
        <p:spPr>
          <a:xfrm>
            <a:off x="2103120" y="1536192"/>
            <a:ext cx="228600" cy="320040"/>
          </a:xfrm>
          <a:prstGeom prst="rect">
            <a:avLst/>
          </a:prstGeom>
          <a:noFill/>
          <a:ln/>
        </p:spPr>
        <p:txBody>
          <a:bodyPr wrap="square" lIns="0" tIns="0" rIns="0" bIns="0" rtlCol="0" anchor="ctr"/>
          <a:lstStyle/>
          <a:p>
            <a:pPr algn="l" indent="0" marL="0">
              <a:buNone/>
            </a:pPr>
            <a:r>
              <a:rPr lang="en-US" sz="1200" dirty="0">
                <a:solidFill>
                  <a:srgbClr val="E8871A"/>
                </a:solidFill>
              </a:rPr>
              <a:t>▶</a:t>
            </a:r>
            <a:endParaRPr lang="en-US" sz="1200" dirty="0"/>
          </a:p>
        </p:txBody>
      </p:sp>
      <p:sp>
        <p:nvSpPr>
          <p:cNvPr id="9" name="Shape 7"/>
          <p:cNvSpPr/>
          <p:nvPr/>
        </p:nvSpPr>
        <p:spPr>
          <a:xfrm>
            <a:off x="2057400" y="1005840"/>
            <a:ext cx="1737360" cy="1371600"/>
          </a:xfrm>
          <a:prstGeom prst="rect">
            <a:avLst/>
          </a:prstGeom>
          <a:solidFill>
            <a:srgbClr val="261550"/>
          </a:solidFill>
          <a:ln w="12700">
            <a:solidFill>
              <a:srgbClr val="E8871A"/>
            </a:solidFill>
            <a:prstDash val="solid"/>
          </a:ln>
        </p:spPr>
      </p:sp>
      <p:sp>
        <p:nvSpPr>
          <p:cNvPr id="10" name="Text 8"/>
          <p:cNvSpPr/>
          <p:nvPr/>
        </p:nvSpPr>
        <p:spPr>
          <a:xfrm>
            <a:off x="2057400" y="1051560"/>
            <a:ext cx="1737360" cy="411480"/>
          </a:xfrm>
          <a:prstGeom prst="rect">
            <a:avLst/>
          </a:prstGeom>
          <a:noFill/>
          <a:ln/>
        </p:spPr>
        <p:txBody>
          <a:bodyPr wrap="square" lIns="0" tIns="0" rIns="0" bIns="0" rtlCol="0" anchor="ctr"/>
          <a:lstStyle/>
          <a:p>
            <a:pPr algn="ctr" indent="0" marL="0">
              <a:buNone/>
            </a:pPr>
            <a:r>
              <a:rPr lang="en-US" sz="1200" b="1" dirty="0">
                <a:solidFill>
                  <a:srgbClr val="F5C842"/>
                </a:solidFill>
                <a:latin typeface="Georgia" pitchFamily="34" charset="0"/>
                <a:ea typeface="Georgia" pitchFamily="34" charset="-122"/>
                <a:cs typeface="Georgia" pitchFamily="34" charset="-120"/>
              </a:rPr>
              <a:t>NLP Engine</a:t>
            </a:r>
            <a:endParaRPr lang="en-US" sz="1200" dirty="0"/>
          </a:p>
        </p:txBody>
      </p:sp>
      <p:sp>
        <p:nvSpPr>
          <p:cNvPr id="11" name="Text 9"/>
          <p:cNvSpPr/>
          <p:nvPr/>
        </p:nvSpPr>
        <p:spPr>
          <a:xfrm>
            <a:off x="2057400" y="1481328"/>
            <a:ext cx="1737360" cy="777240"/>
          </a:xfrm>
          <a:prstGeom prst="rect">
            <a:avLst/>
          </a:prstGeom>
          <a:noFill/>
          <a:ln/>
        </p:spPr>
        <p:txBody>
          <a:bodyPr wrap="square" lIns="0" tIns="0" rIns="0" bIns="0" rtlCol="0" anchor="ctr"/>
          <a:lstStyle/>
          <a:p>
            <a:pPr algn="ctr" indent="0" marL="0">
              <a:buNone/>
            </a:pPr>
            <a:r>
              <a:rPr lang="en-US" sz="1000" dirty="0">
                <a:solidFill>
                  <a:srgbClr val="FFF8E7"/>
                </a:solidFill>
                <a:latin typeface="Calibri" pitchFamily="34" charset="0"/>
                <a:ea typeface="Calibri" pitchFamily="34" charset="-122"/>
                <a:cs typeface="Calibri" pitchFamily="34" charset="-120"/>
              </a:rPr>
              <a:t>Intent &amp; Entity</a:t>
            </a:r>
            <a:endParaRPr lang="en-US" sz="1000" dirty="0"/>
          </a:p>
          <a:p>
            <a:pPr algn="ctr" indent="0" marL="0">
              <a:buNone/>
            </a:pPr>
            <a:r>
              <a:rPr lang="en-US" sz="1000" dirty="0">
                <a:solidFill>
                  <a:srgbClr val="FFF8E7"/>
                </a:solidFill>
                <a:latin typeface="Calibri" pitchFamily="34" charset="0"/>
                <a:ea typeface="Calibri" pitchFamily="34" charset="-122"/>
                <a:cs typeface="Calibri" pitchFamily="34" charset="-120"/>
              </a:rPr>
              <a:t>Extraction</a:t>
            </a:r>
            <a:endParaRPr lang="en-US" sz="1000" dirty="0"/>
          </a:p>
        </p:txBody>
      </p:sp>
      <p:sp>
        <p:nvSpPr>
          <p:cNvPr id="12" name="Shape 10"/>
          <p:cNvSpPr/>
          <p:nvPr/>
        </p:nvSpPr>
        <p:spPr>
          <a:xfrm>
            <a:off x="3813048" y="1664208"/>
            <a:ext cx="274320" cy="54864"/>
          </a:xfrm>
          <a:prstGeom prst="rect">
            <a:avLst/>
          </a:prstGeom>
          <a:solidFill>
            <a:srgbClr val="E8871A"/>
          </a:solidFill>
          <a:ln w="12700">
            <a:solidFill>
              <a:srgbClr val="E8871A"/>
            </a:solidFill>
            <a:prstDash val="solid"/>
          </a:ln>
        </p:spPr>
      </p:sp>
      <p:sp>
        <p:nvSpPr>
          <p:cNvPr id="13" name="Text 11"/>
          <p:cNvSpPr/>
          <p:nvPr/>
        </p:nvSpPr>
        <p:spPr>
          <a:xfrm>
            <a:off x="3977640" y="1536192"/>
            <a:ext cx="228600" cy="320040"/>
          </a:xfrm>
          <a:prstGeom prst="rect">
            <a:avLst/>
          </a:prstGeom>
          <a:noFill/>
          <a:ln/>
        </p:spPr>
        <p:txBody>
          <a:bodyPr wrap="square" lIns="0" tIns="0" rIns="0" bIns="0" rtlCol="0" anchor="ctr"/>
          <a:lstStyle/>
          <a:p>
            <a:pPr algn="l" indent="0" marL="0">
              <a:buNone/>
            </a:pPr>
            <a:r>
              <a:rPr lang="en-US" sz="1200" dirty="0">
                <a:solidFill>
                  <a:srgbClr val="E8871A"/>
                </a:solidFill>
              </a:rPr>
              <a:t>▶</a:t>
            </a:r>
            <a:endParaRPr lang="en-US" sz="1200" dirty="0"/>
          </a:p>
        </p:txBody>
      </p:sp>
      <p:sp>
        <p:nvSpPr>
          <p:cNvPr id="14" name="Shape 12"/>
          <p:cNvSpPr/>
          <p:nvPr/>
        </p:nvSpPr>
        <p:spPr>
          <a:xfrm>
            <a:off x="3931920" y="1005840"/>
            <a:ext cx="1737360" cy="1371600"/>
          </a:xfrm>
          <a:prstGeom prst="rect">
            <a:avLst/>
          </a:prstGeom>
          <a:solidFill>
            <a:srgbClr val="261550"/>
          </a:solidFill>
          <a:ln w="12700">
            <a:solidFill>
              <a:srgbClr val="E8871A"/>
            </a:solidFill>
            <a:prstDash val="solid"/>
          </a:ln>
        </p:spPr>
      </p:sp>
      <p:sp>
        <p:nvSpPr>
          <p:cNvPr id="15" name="Text 13"/>
          <p:cNvSpPr/>
          <p:nvPr/>
        </p:nvSpPr>
        <p:spPr>
          <a:xfrm>
            <a:off x="3931920" y="1051560"/>
            <a:ext cx="1737360" cy="411480"/>
          </a:xfrm>
          <a:prstGeom prst="rect">
            <a:avLst/>
          </a:prstGeom>
          <a:noFill/>
          <a:ln/>
        </p:spPr>
        <p:txBody>
          <a:bodyPr wrap="square" lIns="0" tIns="0" rIns="0" bIns="0" rtlCol="0" anchor="ctr"/>
          <a:lstStyle/>
          <a:p>
            <a:pPr algn="ctr" indent="0" marL="0">
              <a:buNone/>
            </a:pPr>
            <a:r>
              <a:rPr lang="en-US" sz="1200" b="1" dirty="0">
                <a:solidFill>
                  <a:srgbClr val="F5C842"/>
                </a:solidFill>
                <a:latin typeface="Georgia" pitchFamily="34" charset="0"/>
                <a:ea typeface="Georgia" pitchFamily="34" charset="-122"/>
                <a:cs typeface="Georgia" pitchFamily="34" charset="-120"/>
              </a:rPr>
              <a:t>Semantic Search</a:t>
            </a:r>
            <a:endParaRPr lang="en-US" sz="1200" dirty="0"/>
          </a:p>
        </p:txBody>
      </p:sp>
      <p:sp>
        <p:nvSpPr>
          <p:cNvPr id="16" name="Text 14"/>
          <p:cNvSpPr/>
          <p:nvPr/>
        </p:nvSpPr>
        <p:spPr>
          <a:xfrm>
            <a:off x="3931920" y="1481328"/>
            <a:ext cx="1737360" cy="777240"/>
          </a:xfrm>
          <a:prstGeom prst="rect">
            <a:avLst/>
          </a:prstGeom>
          <a:noFill/>
          <a:ln/>
        </p:spPr>
        <p:txBody>
          <a:bodyPr wrap="square" lIns="0" tIns="0" rIns="0" bIns="0" rtlCol="0" anchor="ctr"/>
          <a:lstStyle/>
          <a:p>
            <a:pPr algn="ctr" indent="0" marL="0">
              <a:buNone/>
            </a:pPr>
            <a:r>
              <a:rPr lang="en-US" sz="1000" dirty="0">
                <a:solidFill>
                  <a:srgbClr val="FFF8E7"/>
                </a:solidFill>
                <a:latin typeface="Calibri" pitchFamily="34" charset="0"/>
                <a:ea typeface="Calibri" pitchFamily="34" charset="-122"/>
                <a:cs typeface="Calibri" pitchFamily="34" charset="-120"/>
              </a:rPr>
              <a:t>Vector Embedding</a:t>
            </a:r>
            <a:endParaRPr lang="en-US" sz="1000" dirty="0"/>
          </a:p>
          <a:p>
            <a:pPr algn="ctr" indent="0" marL="0">
              <a:buNone/>
            </a:pPr>
            <a:r>
              <a:rPr lang="en-US" sz="1000" dirty="0">
                <a:solidFill>
                  <a:srgbClr val="FFF8E7"/>
                </a:solidFill>
                <a:latin typeface="Calibri" pitchFamily="34" charset="0"/>
                <a:ea typeface="Calibri" pitchFamily="34" charset="-122"/>
                <a:cs typeface="Calibri" pitchFamily="34" charset="-120"/>
              </a:rPr>
              <a:t>Shloka Retrieval</a:t>
            </a:r>
            <a:endParaRPr lang="en-US" sz="1000" dirty="0"/>
          </a:p>
        </p:txBody>
      </p:sp>
      <p:sp>
        <p:nvSpPr>
          <p:cNvPr id="17" name="Shape 15"/>
          <p:cNvSpPr/>
          <p:nvPr/>
        </p:nvSpPr>
        <p:spPr>
          <a:xfrm>
            <a:off x="5687568" y="1664208"/>
            <a:ext cx="274320" cy="54864"/>
          </a:xfrm>
          <a:prstGeom prst="rect">
            <a:avLst/>
          </a:prstGeom>
          <a:solidFill>
            <a:srgbClr val="E8871A"/>
          </a:solidFill>
          <a:ln w="12700">
            <a:solidFill>
              <a:srgbClr val="E8871A"/>
            </a:solidFill>
            <a:prstDash val="solid"/>
          </a:ln>
        </p:spPr>
      </p:sp>
      <p:sp>
        <p:nvSpPr>
          <p:cNvPr id="18" name="Text 16"/>
          <p:cNvSpPr/>
          <p:nvPr/>
        </p:nvSpPr>
        <p:spPr>
          <a:xfrm>
            <a:off x="5852160" y="1536192"/>
            <a:ext cx="228600" cy="320040"/>
          </a:xfrm>
          <a:prstGeom prst="rect">
            <a:avLst/>
          </a:prstGeom>
          <a:noFill/>
          <a:ln/>
        </p:spPr>
        <p:txBody>
          <a:bodyPr wrap="square" lIns="0" tIns="0" rIns="0" bIns="0" rtlCol="0" anchor="ctr"/>
          <a:lstStyle/>
          <a:p>
            <a:pPr algn="l" indent="0" marL="0">
              <a:buNone/>
            </a:pPr>
            <a:r>
              <a:rPr lang="en-US" sz="1200" dirty="0">
                <a:solidFill>
                  <a:srgbClr val="E8871A"/>
                </a:solidFill>
              </a:rPr>
              <a:t>▶</a:t>
            </a:r>
            <a:endParaRPr lang="en-US" sz="1200" dirty="0"/>
          </a:p>
        </p:txBody>
      </p:sp>
      <p:sp>
        <p:nvSpPr>
          <p:cNvPr id="19" name="Shape 17"/>
          <p:cNvSpPr/>
          <p:nvPr/>
        </p:nvSpPr>
        <p:spPr>
          <a:xfrm>
            <a:off x="5806440" y="1005840"/>
            <a:ext cx="1737360" cy="1371600"/>
          </a:xfrm>
          <a:prstGeom prst="rect">
            <a:avLst/>
          </a:prstGeom>
          <a:solidFill>
            <a:srgbClr val="E8871A"/>
          </a:solidFill>
          <a:ln w="12700">
            <a:solidFill>
              <a:srgbClr val="E8871A"/>
            </a:solidFill>
            <a:prstDash val="solid"/>
          </a:ln>
        </p:spPr>
      </p:sp>
      <p:sp>
        <p:nvSpPr>
          <p:cNvPr id="20" name="Text 18"/>
          <p:cNvSpPr/>
          <p:nvPr/>
        </p:nvSpPr>
        <p:spPr>
          <a:xfrm>
            <a:off x="5806440" y="1051560"/>
            <a:ext cx="1737360" cy="411480"/>
          </a:xfrm>
          <a:prstGeom prst="rect">
            <a:avLst/>
          </a:prstGeom>
          <a:noFill/>
          <a:ln/>
        </p:spPr>
        <p:txBody>
          <a:bodyPr wrap="square" lIns="0" tIns="0" rIns="0" bIns="0" rtlCol="0" anchor="ctr"/>
          <a:lstStyle/>
          <a:p>
            <a:pPr algn="ctr" indent="0" marL="0">
              <a:buNone/>
            </a:pPr>
            <a:r>
              <a:rPr lang="en-US" sz="1200" b="1" dirty="0">
                <a:solidFill>
                  <a:srgbClr val="1A0A2E"/>
                </a:solidFill>
                <a:latin typeface="Georgia" pitchFamily="34" charset="0"/>
                <a:ea typeface="Georgia" pitchFamily="34" charset="-122"/>
                <a:cs typeface="Georgia" pitchFamily="34" charset="-120"/>
              </a:rPr>
              <a:t>LLM Core</a:t>
            </a:r>
            <a:endParaRPr lang="en-US" sz="1200" dirty="0"/>
          </a:p>
        </p:txBody>
      </p:sp>
      <p:sp>
        <p:nvSpPr>
          <p:cNvPr id="21" name="Text 19"/>
          <p:cNvSpPr/>
          <p:nvPr/>
        </p:nvSpPr>
        <p:spPr>
          <a:xfrm>
            <a:off x="5806440" y="1481328"/>
            <a:ext cx="1737360" cy="777240"/>
          </a:xfrm>
          <a:prstGeom prst="rect">
            <a:avLst/>
          </a:prstGeom>
          <a:noFill/>
          <a:ln/>
        </p:spPr>
        <p:txBody>
          <a:bodyPr wrap="square" lIns="0" tIns="0" rIns="0" bIns="0" rtlCol="0" anchor="ctr"/>
          <a:lstStyle/>
          <a:p>
            <a:pPr algn="ctr" indent="0" marL="0">
              <a:buNone/>
            </a:pPr>
            <a:r>
              <a:rPr lang="en-US" sz="1000" dirty="0">
                <a:solidFill>
                  <a:srgbClr val="1A0A2E"/>
                </a:solidFill>
                <a:latin typeface="Calibri" pitchFamily="34" charset="0"/>
                <a:ea typeface="Calibri" pitchFamily="34" charset="-122"/>
                <a:cs typeface="Calibri" pitchFamily="34" charset="-120"/>
              </a:rPr>
              <a:t>GPT/Claude</a:t>
            </a:r>
            <a:endParaRPr lang="en-US" sz="1000" dirty="0"/>
          </a:p>
          <a:p>
            <a:pPr algn="ctr" indent="0" marL="0">
              <a:buNone/>
            </a:pPr>
            <a:r>
              <a:rPr lang="en-US" sz="1000" dirty="0">
                <a:solidFill>
                  <a:srgbClr val="1A0A2E"/>
                </a:solidFill>
                <a:latin typeface="Calibri" pitchFamily="34" charset="0"/>
                <a:ea typeface="Calibri" pitchFamily="34" charset="-122"/>
                <a:cs typeface="Calibri" pitchFamily="34" charset="-120"/>
              </a:rPr>
              <a:t>Context Analysis</a:t>
            </a:r>
            <a:endParaRPr lang="en-US" sz="1000" dirty="0"/>
          </a:p>
        </p:txBody>
      </p:sp>
      <p:sp>
        <p:nvSpPr>
          <p:cNvPr id="22" name="Shape 20"/>
          <p:cNvSpPr/>
          <p:nvPr/>
        </p:nvSpPr>
        <p:spPr>
          <a:xfrm>
            <a:off x="7562088" y="1664208"/>
            <a:ext cx="274320" cy="54864"/>
          </a:xfrm>
          <a:prstGeom prst="rect">
            <a:avLst/>
          </a:prstGeom>
          <a:solidFill>
            <a:srgbClr val="E8871A"/>
          </a:solidFill>
          <a:ln w="12700">
            <a:solidFill>
              <a:srgbClr val="E8871A"/>
            </a:solidFill>
            <a:prstDash val="solid"/>
          </a:ln>
        </p:spPr>
      </p:sp>
      <p:sp>
        <p:nvSpPr>
          <p:cNvPr id="23" name="Text 21"/>
          <p:cNvSpPr/>
          <p:nvPr/>
        </p:nvSpPr>
        <p:spPr>
          <a:xfrm>
            <a:off x="7726680" y="1536192"/>
            <a:ext cx="228600" cy="320040"/>
          </a:xfrm>
          <a:prstGeom prst="rect">
            <a:avLst/>
          </a:prstGeom>
          <a:noFill/>
          <a:ln/>
        </p:spPr>
        <p:txBody>
          <a:bodyPr wrap="square" lIns="0" tIns="0" rIns="0" bIns="0" rtlCol="0" anchor="ctr"/>
          <a:lstStyle/>
          <a:p>
            <a:pPr algn="l" indent="0" marL="0">
              <a:buNone/>
            </a:pPr>
            <a:r>
              <a:rPr lang="en-US" sz="1200" dirty="0">
                <a:solidFill>
                  <a:srgbClr val="E8871A"/>
                </a:solidFill>
              </a:rPr>
              <a:t>▶</a:t>
            </a:r>
            <a:endParaRPr lang="en-US" sz="1200" dirty="0"/>
          </a:p>
        </p:txBody>
      </p:sp>
      <p:sp>
        <p:nvSpPr>
          <p:cNvPr id="24" name="Shape 22"/>
          <p:cNvSpPr/>
          <p:nvPr/>
        </p:nvSpPr>
        <p:spPr>
          <a:xfrm>
            <a:off x="7680960" y="1005840"/>
            <a:ext cx="1737360" cy="1371600"/>
          </a:xfrm>
          <a:prstGeom prst="rect">
            <a:avLst/>
          </a:prstGeom>
          <a:solidFill>
            <a:srgbClr val="261550"/>
          </a:solidFill>
          <a:ln w="12700">
            <a:solidFill>
              <a:srgbClr val="E8871A"/>
            </a:solidFill>
            <a:prstDash val="solid"/>
          </a:ln>
        </p:spPr>
      </p:sp>
      <p:sp>
        <p:nvSpPr>
          <p:cNvPr id="25" name="Text 23"/>
          <p:cNvSpPr/>
          <p:nvPr/>
        </p:nvSpPr>
        <p:spPr>
          <a:xfrm>
            <a:off x="7680960" y="1051560"/>
            <a:ext cx="1737360" cy="411480"/>
          </a:xfrm>
          <a:prstGeom prst="rect">
            <a:avLst/>
          </a:prstGeom>
          <a:noFill/>
          <a:ln/>
        </p:spPr>
        <p:txBody>
          <a:bodyPr wrap="square" lIns="0" tIns="0" rIns="0" bIns="0" rtlCol="0" anchor="ctr"/>
          <a:lstStyle/>
          <a:p>
            <a:pPr algn="ctr" indent="0" marL="0">
              <a:buNone/>
            </a:pPr>
            <a:r>
              <a:rPr lang="en-US" sz="1200" b="1" dirty="0">
                <a:solidFill>
                  <a:srgbClr val="F5C842"/>
                </a:solidFill>
                <a:latin typeface="Georgia" pitchFamily="34" charset="0"/>
                <a:ea typeface="Georgia" pitchFamily="34" charset="-122"/>
                <a:cs typeface="Georgia" pitchFamily="34" charset="-120"/>
              </a:rPr>
              <a:t>Response</a:t>
            </a:r>
            <a:endParaRPr lang="en-US" sz="1200" dirty="0"/>
          </a:p>
        </p:txBody>
      </p:sp>
      <p:sp>
        <p:nvSpPr>
          <p:cNvPr id="26" name="Text 24"/>
          <p:cNvSpPr/>
          <p:nvPr/>
        </p:nvSpPr>
        <p:spPr>
          <a:xfrm>
            <a:off x="7680960" y="1481328"/>
            <a:ext cx="1737360" cy="777240"/>
          </a:xfrm>
          <a:prstGeom prst="rect">
            <a:avLst/>
          </a:prstGeom>
          <a:noFill/>
          <a:ln/>
        </p:spPr>
        <p:txBody>
          <a:bodyPr wrap="square" lIns="0" tIns="0" rIns="0" bIns="0" rtlCol="0" anchor="ctr"/>
          <a:lstStyle/>
          <a:p>
            <a:pPr algn="ctr" indent="0" marL="0">
              <a:buNone/>
            </a:pPr>
            <a:r>
              <a:rPr lang="en-US" sz="1000" dirty="0">
                <a:solidFill>
                  <a:srgbClr val="FFF8E7"/>
                </a:solidFill>
                <a:latin typeface="Calibri" pitchFamily="34" charset="0"/>
                <a:ea typeface="Calibri" pitchFamily="34" charset="-122"/>
                <a:cs typeface="Calibri" pitchFamily="34" charset="-120"/>
              </a:rPr>
              <a:t>Shloka + Meaning</a:t>
            </a:r>
            <a:endParaRPr lang="en-US" sz="1000" dirty="0"/>
          </a:p>
          <a:p>
            <a:pPr algn="ctr" indent="0" marL="0">
              <a:buNone/>
            </a:pPr>
            <a:r>
              <a:rPr lang="en-US" sz="1000" dirty="0">
                <a:solidFill>
                  <a:srgbClr val="FFF8E7"/>
                </a:solidFill>
                <a:latin typeface="Calibri" pitchFamily="34" charset="0"/>
                <a:ea typeface="Calibri" pitchFamily="34" charset="-122"/>
                <a:cs typeface="Calibri" pitchFamily="34" charset="-120"/>
              </a:rPr>
              <a:t>+ Guidance</a:t>
            </a:r>
            <a:endParaRPr lang="en-US" sz="1000" dirty="0"/>
          </a:p>
        </p:txBody>
      </p:sp>
      <p:sp>
        <p:nvSpPr>
          <p:cNvPr id="27" name="Text 25"/>
          <p:cNvSpPr/>
          <p:nvPr/>
        </p:nvSpPr>
        <p:spPr>
          <a:xfrm>
            <a:off x="457200" y="2743200"/>
            <a:ext cx="8229600" cy="365760"/>
          </a:xfrm>
          <a:prstGeom prst="rect">
            <a:avLst/>
          </a:prstGeom>
          <a:noFill/>
          <a:ln/>
        </p:spPr>
        <p:txBody>
          <a:bodyPr wrap="square" lIns="0" tIns="0" rIns="0" bIns="0" rtlCol="0" anchor="ctr"/>
          <a:lstStyle/>
          <a:p>
            <a:pPr algn="l" indent="0" marL="0">
              <a:buNone/>
            </a:pPr>
            <a:r>
              <a:rPr lang="en-US" sz="1600" b="1" dirty="0">
                <a:solidFill>
                  <a:srgbClr val="E8871A"/>
                </a:solidFill>
                <a:latin typeface="Georgia" pitchFamily="34" charset="0"/>
                <a:ea typeface="Georgia" pitchFamily="34" charset="-122"/>
                <a:cs typeface="Georgia" pitchFamily="34" charset="-120"/>
              </a:rPr>
              <a:t>Technology Stack</a:t>
            </a:r>
            <a:endParaRPr lang="en-US" sz="1600" dirty="0"/>
          </a:p>
        </p:txBody>
      </p:sp>
      <p:sp>
        <p:nvSpPr>
          <p:cNvPr id="28" name="Shape 26"/>
          <p:cNvSpPr/>
          <p:nvPr/>
        </p:nvSpPr>
        <p:spPr>
          <a:xfrm>
            <a:off x="182880" y="3200400"/>
            <a:ext cx="1600200" cy="1463040"/>
          </a:xfrm>
          <a:prstGeom prst="rect">
            <a:avLst/>
          </a:prstGeom>
          <a:solidFill>
            <a:srgbClr val="261550"/>
          </a:solidFill>
          <a:ln w="12700">
            <a:solidFill>
              <a:srgbClr val="0A9396"/>
            </a:solidFill>
            <a:prstDash val="solid"/>
          </a:ln>
        </p:spPr>
      </p:sp>
      <p:sp>
        <p:nvSpPr>
          <p:cNvPr id="29" name="Text 27"/>
          <p:cNvSpPr/>
          <p:nvPr/>
        </p:nvSpPr>
        <p:spPr>
          <a:xfrm>
            <a:off x="182880" y="3246120"/>
            <a:ext cx="1600200" cy="320040"/>
          </a:xfrm>
          <a:prstGeom prst="rect">
            <a:avLst/>
          </a:prstGeom>
          <a:noFill/>
          <a:ln/>
        </p:spPr>
        <p:txBody>
          <a:bodyPr wrap="square" lIns="0" tIns="0" rIns="0" bIns="0" rtlCol="0" anchor="ctr"/>
          <a:lstStyle/>
          <a:p>
            <a:pPr algn="ctr" indent="0" marL="0">
              <a:buNone/>
            </a:pPr>
            <a:r>
              <a:rPr lang="en-US" sz="1000" b="1" dirty="0">
                <a:solidFill>
                  <a:srgbClr val="0A9396"/>
                </a:solidFill>
                <a:latin typeface="Calibri" pitchFamily="34" charset="0"/>
                <a:ea typeface="Calibri" pitchFamily="34" charset="-122"/>
                <a:cs typeface="Calibri" pitchFamily="34" charset="-120"/>
              </a:rPr>
              <a:t>Backend</a:t>
            </a:r>
            <a:endParaRPr lang="en-US" sz="1000" dirty="0"/>
          </a:p>
        </p:txBody>
      </p:sp>
      <p:sp>
        <p:nvSpPr>
          <p:cNvPr id="30" name="Text 28"/>
          <p:cNvSpPr/>
          <p:nvPr/>
        </p:nvSpPr>
        <p:spPr>
          <a:xfrm>
            <a:off x="182880" y="3584448"/>
            <a:ext cx="1600200" cy="822960"/>
          </a:xfrm>
          <a:prstGeom prst="rect">
            <a:avLst/>
          </a:prstGeom>
          <a:noFill/>
          <a:ln/>
        </p:spPr>
        <p:txBody>
          <a:bodyPr wrap="square" lIns="0" tIns="0" rIns="0" bIns="0" rtlCol="0" anchor="ctr"/>
          <a:lstStyle/>
          <a:p>
            <a:pPr algn="ctr" indent="0" marL="0">
              <a:buNone/>
            </a:pPr>
            <a:r>
              <a:rPr lang="en-US" sz="1100" dirty="0">
                <a:solidFill>
                  <a:srgbClr val="FFF8E7"/>
                </a:solidFill>
                <a:latin typeface="Calibri" pitchFamily="34" charset="0"/>
                <a:ea typeface="Calibri" pitchFamily="34" charset="-122"/>
                <a:cs typeface="Calibri" pitchFamily="34" charset="-120"/>
              </a:rPr>
              <a:t>Python &amp; FastAPI</a:t>
            </a:r>
            <a:endParaRPr lang="en-US" sz="1100" dirty="0"/>
          </a:p>
        </p:txBody>
      </p:sp>
      <p:sp>
        <p:nvSpPr>
          <p:cNvPr id="31" name="Shape 29"/>
          <p:cNvSpPr/>
          <p:nvPr/>
        </p:nvSpPr>
        <p:spPr>
          <a:xfrm>
            <a:off x="1965960" y="3200400"/>
            <a:ext cx="1600200" cy="1463040"/>
          </a:xfrm>
          <a:prstGeom prst="rect">
            <a:avLst/>
          </a:prstGeom>
          <a:solidFill>
            <a:srgbClr val="261550"/>
          </a:solidFill>
          <a:ln w="12700">
            <a:solidFill>
              <a:srgbClr val="0A9396"/>
            </a:solidFill>
            <a:prstDash val="solid"/>
          </a:ln>
        </p:spPr>
      </p:sp>
      <p:sp>
        <p:nvSpPr>
          <p:cNvPr id="32" name="Text 30"/>
          <p:cNvSpPr/>
          <p:nvPr/>
        </p:nvSpPr>
        <p:spPr>
          <a:xfrm>
            <a:off x="1965960" y="3246120"/>
            <a:ext cx="1600200" cy="320040"/>
          </a:xfrm>
          <a:prstGeom prst="rect">
            <a:avLst/>
          </a:prstGeom>
          <a:noFill/>
          <a:ln/>
        </p:spPr>
        <p:txBody>
          <a:bodyPr wrap="square" lIns="0" tIns="0" rIns="0" bIns="0" rtlCol="0" anchor="ctr"/>
          <a:lstStyle/>
          <a:p>
            <a:pPr algn="ctr" indent="0" marL="0">
              <a:buNone/>
            </a:pPr>
            <a:r>
              <a:rPr lang="en-US" sz="1000" b="1" dirty="0">
                <a:solidFill>
                  <a:srgbClr val="0A9396"/>
                </a:solidFill>
                <a:latin typeface="Calibri" pitchFamily="34" charset="0"/>
                <a:ea typeface="Calibri" pitchFamily="34" charset="-122"/>
                <a:cs typeface="Calibri" pitchFamily="34" charset="-120"/>
              </a:rPr>
              <a:t>AI Pipeline</a:t>
            </a:r>
            <a:endParaRPr lang="en-US" sz="1000" dirty="0"/>
          </a:p>
        </p:txBody>
      </p:sp>
      <p:sp>
        <p:nvSpPr>
          <p:cNvPr id="33" name="Text 31"/>
          <p:cNvSpPr/>
          <p:nvPr/>
        </p:nvSpPr>
        <p:spPr>
          <a:xfrm>
            <a:off x="1965960" y="3584448"/>
            <a:ext cx="1600200" cy="822960"/>
          </a:xfrm>
          <a:prstGeom prst="rect">
            <a:avLst/>
          </a:prstGeom>
          <a:noFill/>
          <a:ln/>
        </p:spPr>
        <p:txBody>
          <a:bodyPr wrap="square" lIns="0" tIns="0" rIns="0" bIns="0" rtlCol="0" anchor="ctr"/>
          <a:lstStyle/>
          <a:p>
            <a:pPr algn="ctr" indent="0" marL="0">
              <a:buNone/>
            </a:pPr>
            <a:r>
              <a:rPr lang="en-US" sz="1100" dirty="0">
                <a:solidFill>
                  <a:srgbClr val="FFF8E7"/>
                </a:solidFill>
                <a:latin typeface="Calibri" pitchFamily="34" charset="0"/>
                <a:ea typeface="Calibri" pitchFamily="34" charset="-122"/>
                <a:cs typeface="Calibri" pitchFamily="34" charset="-120"/>
              </a:rPr>
              <a:t>LangChain / RAG</a:t>
            </a:r>
            <a:endParaRPr lang="en-US" sz="1100" dirty="0"/>
          </a:p>
        </p:txBody>
      </p:sp>
      <p:sp>
        <p:nvSpPr>
          <p:cNvPr id="34" name="Shape 32"/>
          <p:cNvSpPr/>
          <p:nvPr/>
        </p:nvSpPr>
        <p:spPr>
          <a:xfrm>
            <a:off x="3749040" y="3200400"/>
            <a:ext cx="1600200" cy="1463040"/>
          </a:xfrm>
          <a:prstGeom prst="rect">
            <a:avLst/>
          </a:prstGeom>
          <a:solidFill>
            <a:srgbClr val="261550"/>
          </a:solidFill>
          <a:ln w="12700">
            <a:solidFill>
              <a:srgbClr val="0A9396"/>
            </a:solidFill>
            <a:prstDash val="solid"/>
          </a:ln>
        </p:spPr>
      </p:sp>
      <p:sp>
        <p:nvSpPr>
          <p:cNvPr id="35" name="Text 33"/>
          <p:cNvSpPr/>
          <p:nvPr/>
        </p:nvSpPr>
        <p:spPr>
          <a:xfrm>
            <a:off x="3749040" y="3246120"/>
            <a:ext cx="1600200" cy="320040"/>
          </a:xfrm>
          <a:prstGeom prst="rect">
            <a:avLst/>
          </a:prstGeom>
          <a:noFill/>
          <a:ln/>
        </p:spPr>
        <p:txBody>
          <a:bodyPr wrap="square" lIns="0" tIns="0" rIns="0" bIns="0" rtlCol="0" anchor="ctr"/>
          <a:lstStyle/>
          <a:p>
            <a:pPr algn="ctr" indent="0" marL="0">
              <a:buNone/>
            </a:pPr>
            <a:r>
              <a:rPr lang="en-US" sz="1000" b="1" dirty="0">
                <a:solidFill>
                  <a:srgbClr val="0A9396"/>
                </a:solidFill>
                <a:latin typeface="Calibri" pitchFamily="34" charset="0"/>
                <a:ea typeface="Calibri" pitchFamily="34" charset="-122"/>
                <a:cs typeface="Calibri" pitchFamily="34" charset="-120"/>
              </a:rPr>
              <a:t>Shloka Search</a:t>
            </a:r>
            <a:endParaRPr lang="en-US" sz="1000" dirty="0"/>
          </a:p>
        </p:txBody>
      </p:sp>
      <p:sp>
        <p:nvSpPr>
          <p:cNvPr id="36" name="Text 34"/>
          <p:cNvSpPr/>
          <p:nvPr/>
        </p:nvSpPr>
        <p:spPr>
          <a:xfrm>
            <a:off x="3749040" y="3584448"/>
            <a:ext cx="1600200" cy="822960"/>
          </a:xfrm>
          <a:prstGeom prst="rect">
            <a:avLst/>
          </a:prstGeom>
          <a:noFill/>
          <a:ln/>
        </p:spPr>
        <p:txBody>
          <a:bodyPr wrap="square" lIns="0" tIns="0" rIns="0" bIns="0" rtlCol="0" anchor="ctr"/>
          <a:lstStyle/>
          <a:p>
            <a:pPr algn="ctr" indent="0" marL="0">
              <a:buNone/>
            </a:pPr>
            <a:r>
              <a:rPr lang="en-US" sz="1100" dirty="0">
                <a:solidFill>
                  <a:srgbClr val="FFF8E7"/>
                </a:solidFill>
                <a:latin typeface="Calibri" pitchFamily="34" charset="0"/>
                <a:ea typeface="Calibri" pitchFamily="34" charset="-122"/>
                <a:cs typeface="Calibri" pitchFamily="34" charset="-120"/>
              </a:rPr>
              <a:t>FAISS Vector DB</a:t>
            </a:r>
            <a:endParaRPr lang="en-US" sz="1100" dirty="0"/>
          </a:p>
        </p:txBody>
      </p:sp>
      <p:sp>
        <p:nvSpPr>
          <p:cNvPr id="37" name="Shape 35"/>
          <p:cNvSpPr/>
          <p:nvPr/>
        </p:nvSpPr>
        <p:spPr>
          <a:xfrm>
            <a:off x="5532120" y="3200400"/>
            <a:ext cx="1600200" cy="1463040"/>
          </a:xfrm>
          <a:prstGeom prst="rect">
            <a:avLst/>
          </a:prstGeom>
          <a:solidFill>
            <a:srgbClr val="261550"/>
          </a:solidFill>
          <a:ln w="12700">
            <a:solidFill>
              <a:srgbClr val="0A9396"/>
            </a:solidFill>
            <a:prstDash val="solid"/>
          </a:ln>
        </p:spPr>
      </p:sp>
      <p:sp>
        <p:nvSpPr>
          <p:cNvPr id="38" name="Text 36"/>
          <p:cNvSpPr/>
          <p:nvPr/>
        </p:nvSpPr>
        <p:spPr>
          <a:xfrm>
            <a:off x="5532120" y="3246120"/>
            <a:ext cx="1600200" cy="320040"/>
          </a:xfrm>
          <a:prstGeom prst="rect">
            <a:avLst/>
          </a:prstGeom>
          <a:noFill/>
          <a:ln/>
        </p:spPr>
        <p:txBody>
          <a:bodyPr wrap="square" lIns="0" tIns="0" rIns="0" bIns="0" rtlCol="0" anchor="ctr"/>
          <a:lstStyle/>
          <a:p>
            <a:pPr algn="ctr" indent="0" marL="0">
              <a:buNone/>
            </a:pPr>
            <a:r>
              <a:rPr lang="en-US" sz="1000" b="1" dirty="0">
                <a:solidFill>
                  <a:srgbClr val="0A9396"/>
                </a:solidFill>
                <a:latin typeface="Calibri" pitchFamily="34" charset="0"/>
                <a:ea typeface="Calibri" pitchFamily="34" charset="-122"/>
                <a:cs typeface="Calibri" pitchFamily="34" charset="-120"/>
              </a:rPr>
              <a:t>LLM Engine</a:t>
            </a:r>
            <a:endParaRPr lang="en-US" sz="1000" dirty="0"/>
          </a:p>
        </p:txBody>
      </p:sp>
      <p:sp>
        <p:nvSpPr>
          <p:cNvPr id="39" name="Text 37"/>
          <p:cNvSpPr/>
          <p:nvPr/>
        </p:nvSpPr>
        <p:spPr>
          <a:xfrm>
            <a:off x="5532120" y="3584448"/>
            <a:ext cx="1600200" cy="822960"/>
          </a:xfrm>
          <a:prstGeom prst="rect">
            <a:avLst/>
          </a:prstGeom>
          <a:noFill/>
          <a:ln/>
        </p:spPr>
        <p:txBody>
          <a:bodyPr wrap="square" lIns="0" tIns="0" rIns="0" bIns="0" rtlCol="0" anchor="ctr"/>
          <a:lstStyle/>
          <a:p>
            <a:pPr algn="ctr" indent="0" marL="0">
              <a:buNone/>
            </a:pPr>
            <a:r>
              <a:rPr lang="en-US" sz="1100" dirty="0">
                <a:solidFill>
                  <a:srgbClr val="FFF8E7"/>
                </a:solidFill>
                <a:latin typeface="Calibri" pitchFamily="34" charset="0"/>
                <a:ea typeface="Calibri" pitchFamily="34" charset="-122"/>
                <a:cs typeface="Calibri" pitchFamily="34" charset="-120"/>
              </a:rPr>
              <a:t>OpenAI / Claude API</a:t>
            </a:r>
            <a:endParaRPr lang="en-US" sz="1100" dirty="0"/>
          </a:p>
        </p:txBody>
      </p:sp>
      <p:sp>
        <p:nvSpPr>
          <p:cNvPr id="40" name="Shape 38"/>
          <p:cNvSpPr/>
          <p:nvPr/>
        </p:nvSpPr>
        <p:spPr>
          <a:xfrm>
            <a:off x="7315200" y="3200400"/>
            <a:ext cx="1600200" cy="1463040"/>
          </a:xfrm>
          <a:prstGeom prst="rect">
            <a:avLst/>
          </a:prstGeom>
          <a:solidFill>
            <a:srgbClr val="261550"/>
          </a:solidFill>
          <a:ln w="12700">
            <a:solidFill>
              <a:srgbClr val="0A9396"/>
            </a:solidFill>
            <a:prstDash val="solid"/>
          </a:ln>
        </p:spPr>
      </p:sp>
      <p:sp>
        <p:nvSpPr>
          <p:cNvPr id="41" name="Text 39"/>
          <p:cNvSpPr/>
          <p:nvPr/>
        </p:nvSpPr>
        <p:spPr>
          <a:xfrm>
            <a:off x="7315200" y="3246120"/>
            <a:ext cx="1600200" cy="320040"/>
          </a:xfrm>
          <a:prstGeom prst="rect">
            <a:avLst/>
          </a:prstGeom>
          <a:noFill/>
          <a:ln/>
        </p:spPr>
        <p:txBody>
          <a:bodyPr wrap="square" lIns="0" tIns="0" rIns="0" bIns="0" rtlCol="0" anchor="ctr"/>
          <a:lstStyle/>
          <a:p>
            <a:pPr algn="ctr" indent="0" marL="0">
              <a:buNone/>
            </a:pPr>
            <a:r>
              <a:rPr lang="en-US" sz="1000" b="1" dirty="0">
                <a:solidFill>
                  <a:srgbClr val="0A9396"/>
                </a:solidFill>
                <a:latin typeface="Calibri" pitchFamily="34" charset="0"/>
                <a:ea typeface="Calibri" pitchFamily="34" charset="-122"/>
                <a:cs typeface="Calibri" pitchFamily="34" charset="-120"/>
              </a:rPr>
              <a:t>Frontend</a:t>
            </a:r>
            <a:endParaRPr lang="en-US" sz="1000" dirty="0"/>
          </a:p>
        </p:txBody>
      </p:sp>
      <p:sp>
        <p:nvSpPr>
          <p:cNvPr id="42" name="Text 40"/>
          <p:cNvSpPr/>
          <p:nvPr/>
        </p:nvSpPr>
        <p:spPr>
          <a:xfrm>
            <a:off x="7315200" y="3584448"/>
            <a:ext cx="1600200" cy="822960"/>
          </a:xfrm>
          <a:prstGeom prst="rect">
            <a:avLst/>
          </a:prstGeom>
          <a:noFill/>
          <a:ln/>
        </p:spPr>
        <p:txBody>
          <a:bodyPr wrap="square" lIns="0" tIns="0" rIns="0" bIns="0" rtlCol="0" anchor="ctr"/>
          <a:lstStyle/>
          <a:p>
            <a:pPr algn="ctr" indent="0" marL="0">
              <a:buNone/>
            </a:pPr>
            <a:r>
              <a:rPr lang="en-US" sz="1100" dirty="0">
                <a:solidFill>
                  <a:srgbClr val="FFF8E7"/>
                </a:solidFill>
                <a:latin typeface="Calibri" pitchFamily="34" charset="0"/>
                <a:ea typeface="Calibri" pitchFamily="34" charset="-122"/>
                <a:cs typeface="Calibri" pitchFamily="34" charset="-120"/>
              </a:rPr>
              <a:t>React.js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871A"/>
          </a:solidFill>
          <a:ln w="12700">
            <a:solidFill>
              <a:srgbClr val="E8871A"/>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algn="l" indent="0" marL="0">
              <a:buNone/>
            </a:pPr>
            <a:r>
              <a:rPr lang="en-US" sz="3000" b="1" dirty="0">
                <a:solidFill>
                  <a:srgbClr val="1A0A2E"/>
                </a:solidFill>
                <a:latin typeface="Georgia" pitchFamily="34" charset="0"/>
                <a:ea typeface="Georgia" pitchFamily="34" charset="-122"/>
                <a:cs typeface="Georgia" pitchFamily="34" charset="-120"/>
              </a:rPr>
              <a:t>Key Features</a:t>
            </a:r>
            <a:endParaRPr lang="en-US" sz="3000" dirty="0"/>
          </a:p>
        </p:txBody>
      </p:sp>
      <p:sp>
        <p:nvSpPr>
          <p:cNvPr id="4" name="Shape 2"/>
          <p:cNvSpPr/>
          <p:nvPr/>
        </p:nvSpPr>
        <p:spPr>
          <a:xfrm>
            <a:off x="228600" y="1005840"/>
            <a:ext cx="2743200" cy="1645920"/>
          </a:xfrm>
          <a:prstGeom prst="rect">
            <a:avLst/>
          </a:prstGeom>
          <a:solidFill>
            <a:srgbClr val="FFFFFF"/>
          </a:solidFill>
          <a:ln w="12700">
            <a:solidFill>
              <a:srgbClr val="E8D5B5"/>
            </a:solidFill>
            <a:prstDash val="solid"/>
          </a:ln>
          <a:effectLst>
            <a:outerShdw sx="100000" sy="100000" kx="0" ky="0" algn="bl" rotWithShape="0" blurRad="101600" dist="25400" dir="8100000">
              <a:srgbClr val="000000">
                <a:alpha val="10000"/>
              </a:srgbClr>
            </a:outerShdw>
          </a:effectLst>
        </p:spPr>
      </p:sp>
      <p:sp>
        <p:nvSpPr>
          <p:cNvPr id="5" name="Shape 3"/>
          <p:cNvSpPr/>
          <p:nvPr/>
        </p:nvSpPr>
        <p:spPr>
          <a:xfrm>
            <a:off x="228600" y="1005840"/>
            <a:ext cx="64008" cy="1645920"/>
          </a:xfrm>
          <a:prstGeom prst="rect">
            <a:avLst/>
          </a:prstGeom>
          <a:solidFill>
            <a:srgbClr val="E8871A"/>
          </a:solidFill>
          <a:ln w="12700">
            <a:solidFill>
              <a:srgbClr val="E8871A"/>
            </a:solidFill>
            <a:prstDash val="solid"/>
          </a:ln>
        </p:spPr>
      </p:sp>
      <p:sp>
        <p:nvSpPr>
          <p:cNvPr id="6" name="Text 4"/>
          <p:cNvSpPr/>
          <p:nvPr/>
        </p:nvSpPr>
        <p:spPr>
          <a:xfrm>
            <a:off x="365760" y="1115568"/>
            <a:ext cx="2514600" cy="411480"/>
          </a:xfrm>
          <a:prstGeom prst="rect">
            <a:avLst/>
          </a:prstGeom>
          <a:noFill/>
          <a:ln/>
        </p:spPr>
        <p:txBody>
          <a:bodyPr wrap="square" lIns="0" tIns="0" rIns="0" bIns="0" rtlCol="0" anchor="ctr"/>
          <a:lstStyle/>
          <a:p>
            <a:pPr algn="l" indent="0" marL="0">
              <a:buNone/>
            </a:pPr>
            <a:r>
              <a:rPr lang="en-US" sz="1300" b="1" dirty="0">
                <a:solidFill>
                  <a:srgbClr val="1A0A2E"/>
                </a:solidFill>
                <a:latin typeface="Georgia" pitchFamily="34" charset="0"/>
                <a:ea typeface="Georgia" pitchFamily="34" charset="-122"/>
                <a:cs typeface="Georgia" pitchFamily="34" charset="-120"/>
              </a:rPr>
              <a:t>💬  Multilingual Q&amp;A</a:t>
            </a:r>
            <a:endParaRPr lang="en-US" sz="1300" dirty="0"/>
          </a:p>
        </p:txBody>
      </p:sp>
      <p:sp>
        <p:nvSpPr>
          <p:cNvPr id="7" name="Text 5"/>
          <p:cNvSpPr/>
          <p:nvPr/>
        </p:nvSpPr>
        <p:spPr>
          <a:xfrm>
            <a:off x="365760" y="1572768"/>
            <a:ext cx="2514600" cy="960120"/>
          </a:xfrm>
          <a:prstGeom prst="rect">
            <a:avLst/>
          </a:prstGeom>
          <a:noFill/>
          <a:ln/>
        </p:spPr>
        <p:txBody>
          <a:bodyPr wrap="square" lIns="0" tIns="0" rIns="0" bIns="0" rtlCol="0" anchor="ctr"/>
          <a:lstStyle/>
          <a:p>
            <a:pPr algn="l" indent="0" marL="0">
              <a:buNone/>
            </a:pPr>
            <a:r>
              <a:rPr lang="en-US" sz="1100" dirty="0">
                <a:solidFill>
                  <a:srgbClr val="444444"/>
                </a:solidFill>
                <a:latin typeface="Calibri" pitchFamily="34" charset="0"/>
                <a:ea typeface="Calibri" pitchFamily="34" charset="-122"/>
                <a:cs typeface="Calibri" pitchFamily="34" charset="-120"/>
              </a:rPr>
              <a:t>Supports queries in English, Hindi, Kannada, Tamil &amp; more regional languages</a:t>
            </a:r>
            <a:endParaRPr lang="en-US" sz="1100" dirty="0"/>
          </a:p>
        </p:txBody>
      </p:sp>
      <p:sp>
        <p:nvSpPr>
          <p:cNvPr id="8" name="Shape 6"/>
          <p:cNvSpPr/>
          <p:nvPr/>
        </p:nvSpPr>
        <p:spPr>
          <a:xfrm>
            <a:off x="3200400" y="1005840"/>
            <a:ext cx="2743200" cy="1645920"/>
          </a:xfrm>
          <a:prstGeom prst="rect">
            <a:avLst/>
          </a:prstGeom>
          <a:solidFill>
            <a:srgbClr val="FFFFFF"/>
          </a:solidFill>
          <a:ln w="12700">
            <a:solidFill>
              <a:srgbClr val="E8D5B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3200400" y="1005840"/>
            <a:ext cx="64008" cy="1645920"/>
          </a:xfrm>
          <a:prstGeom prst="rect">
            <a:avLst/>
          </a:prstGeom>
          <a:solidFill>
            <a:srgbClr val="E8871A"/>
          </a:solidFill>
          <a:ln w="12700">
            <a:solidFill>
              <a:srgbClr val="E8871A"/>
            </a:solidFill>
            <a:prstDash val="solid"/>
          </a:ln>
        </p:spPr>
      </p:sp>
      <p:sp>
        <p:nvSpPr>
          <p:cNvPr id="10" name="Text 8"/>
          <p:cNvSpPr/>
          <p:nvPr/>
        </p:nvSpPr>
        <p:spPr>
          <a:xfrm>
            <a:off x="3337560" y="1115568"/>
            <a:ext cx="2514600" cy="411480"/>
          </a:xfrm>
          <a:prstGeom prst="rect">
            <a:avLst/>
          </a:prstGeom>
          <a:noFill/>
          <a:ln/>
        </p:spPr>
        <p:txBody>
          <a:bodyPr wrap="square" lIns="0" tIns="0" rIns="0" bIns="0" rtlCol="0" anchor="ctr"/>
          <a:lstStyle/>
          <a:p>
            <a:pPr algn="l" indent="0" marL="0">
              <a:buNone/>
            </a:pPr>
            <a:r>
              <a:rPr lang="en-US" sz="1300" b="1" dirty="0">
                <a:solidFill>
                  <a:srgbClr val="1A0A2E"/>
                </a:solidFill>
                <a:latin typeface="Georgia" pitchFamily="34" charset="0"/>
                <a:ea typeface="Georgia" pitchFamily="34" charset="-122"/>
                <a:cs typeface="Georgia" pitchFamily="34" charset="-120"/>
              </a:rPr>
              <a:t>📖  Shloka Retrieval</a:t>
            </a:r>
            <a:endParaRPr lang="en-US" sz="1300" dirty="0"/>
          </a:p>
        </p:txBody>
      </p:sp>
      <p:sp>
        <p:nvSpPr>
          <p:cNvPr id="11" name="Text 9"/>
          <p:cNvSpPr/>
          <p:nvPr/>
        </p:nvSpPr>
        <p:spPr>
          <a:xfrm>
            <a:off x="3337560" y="1572768"/>
            <a:ext cx="2514600" cy="960120"/>
          </a:xfrm>
          <a:prstGeom prst="rect">
            <a:avLst/>
          </a:prstGeom>
          <a:noFill/>
          <a:ln/>
        </p:spPr>
        <p:txBody>
          <a:bodyPr wrap="square" lIns="0" tIns="0" rIns="0" bIns="0" rtlCol="0" anchor="ctr"/>
          <a:lstStyle/>
          <a:p>
            <a:pPr algn="l" indent="0" marL="0">
              <a:buNone/>
            </a:pPr>
            <a:r>
              <a:rPr lang="en-US" sz="1100" dirty="0">
                <a:solidFill>
                  <a:srgbClr val="444444"/>
                </a:solidFill>
                <a:latin typeface="Calibri" pitchFamily="34" charset="0"/>
                <a:ea typeface="Calibri" pitchFamily="34" charset="-122"/>
                <a:cs typeface="Calibri" pitchFamily="34" charset="-120"/>
              </a:rPr>
              <a:t>Semantic search retrieves the most relevant Gita verses for each question</a:t>
            </a:r>
            <a:endParaRPr lang="en-US" sz="1100" dirty="0"/>
          </a:p>
        </p:txBody>
      </p:sp>
      <p:sp>
        <p:nvSpPr>
          <p:cNvPr id="12" name="Shape 10"/>
          <p:cNvSpPr/>
          <p:nvPr/>
        </p:nvSpPr>
        <p:spPr>
          <a:xfrm>
            <a:off x="6172200" y="1005840"/>
            <a:ext cx="2743200" cy="1645920"/>
          </a:xfrm>
          <a:prstGeom prst="rect">
            <a:avLst/>
          </a:prstGeom>
          <a:solidFill>
            <a:srgbClr val="FFFFFF"/>
          </a:solidFill>
          <a:ln w="12700">
            <a:solidFill>
              <a:srgbClr val="E8D5B5"/>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6172200" y="1005840"/>
            <a:ext cx="64008" cy="1645920"/>
          </a:xfrm>
          <a:prstGeom prst="rect">
            <a:avLst/>
          </a:prstGeom>
          <a:solidFill>
            <a:srgbClr val="E8871A"/>
          </a:solidFill>
          <a:ln w="12700">
            <a:solidFill>
              <a:srgbClr val="E8871A"/>
            </a:solidFill>
            <a:prstDash val="solid"/>
          </a:ln>
        </p:spPr>
      </p:sp>
      <p:sp>
        <p:nvSpPr>
          <p:cNvPr id="14" name="Text 12"/>
          <p:cNvSpPr/>
          <p:nvPr/>
        </p:nvSpPr>
        <p:spPr>
          <a:xfrm>
            <a:off x="6309360" y="1115568"/>
            <a:ext cx="2514600" cy="411480"/>
          </a:xfrm>
          <a:prstGeom prst="rect">
            <a:avLst/>
          </a:prstGeom>
          <a:noFill/>
          <a:ln/>
        </p:spPr>
        <p:txBody>
          <a:bodyPr wrap="square" lIns="0" tIns="0" rIns="0" bIns="0" rtlCol="0" anchor="ctr"/>
          <a:lstStyle/>
          <a:p>
            <a:pPr algn="l" indent="0" marL="0">
              <a:buNone/>
            </a:pPr>
            <a:r>
              <a:rPr lang="en-US" sz="1300" b="1" dirty="0">
                <a:solidFill>
                  <a:srgbClr val="1A0A2E"/>
                </a:solidFill>
                <a:latin typeface="Georgia" pitchFamily="34" charset="0"/>
                <a:ea typeface="Georgia" pitchFamily="34" charset="-122"/>
                <a:cs typeface="Georgia" pitchFamily="34" charset="-120"/>
              </a:rPr>
              <a:t>🧠  Context-Aware AI</a:t>
            </a:r>
            <a:endParaRPr lang="en-US" sz="1300" dirty="0"/>
          </a:p>
        </p:txBody>
      </p:sp>
      <p:sp>
        <p:nvSpPr>
          <p:cNvPr id="15" name="Text 13"/>
          <p:cNvSpPr/>
          <p:nvPr/>
        </p:nvSpPr>
        <p:spPr>
          <a:xfrm>
            <a:off x="6309360" y="1572768"/>
            <a:ext cx="2514600" cy="960120"/>
          </a:xfrm>
          <a:prstGeom prst="rect">
            <a:avLst/>
          </a:prstGeom>
          <a:noFill/>
          <a:ln/>
        </p:spPr>
        <p:txBody>
          <a:bodyPr wrap="square" lIns="0" tIns="0" rIns="0" bIns="0" rtlCol="0" anchor="ctr"/>
          <a:lstStyle/>
          <a:p>
            <a:pPr algn="l" indent="0" marL="0">
              <a:buNone/>
            </a:pPr>
            <a:r>
              <a:rPr lang="en-US" sz="1100" dirty="0">
                <a:solidFill>
                  <a:srgbClr val="444444"/>
                </a:solidFill>
                <a:latin typeface="Calibri" pitchFamily="34" charset="0"/>
                <a:ea typeface="Calibri" pitchFamily="34" charset="-122"/>
                <a:cs typeface="Calibri" pitchFamily="34" charset="-120"/>
              </a:rPr>
              <a:t>Understands life situations—career, relationships, anxiety—and maps to teachings</a:t>
            </a:r>
            <a:endParaRPr lang="en-US" sz="1100" dirty="0"/>
          </a:p>
        </p:txBody>
      </p:sp>
      <p:sp>
        <p:nvSpPr>
          <p:cNvPr id="16" name="Shape 14"/>
          <p:cNvSpPr/>
          <p:nvPr/>
        </p:nvSpPr>
        <p:spPr>
          <a:xfrm>
            <a:off x="228600" y="2880360"/>
            <a:ext cx="2743200" cy="1645920"/>
          </a:xfrm>
          <a:prstGeom prst="rect">
            <a:avLst/>
          </a:prstGeom>
          <a:solidFill>
            <a:srgbClr val="FFFFFF"/>
          </a:solidFill>
          <a:ln w="12700">
            <a:solidFill>
              <a:srgbClr val="E8D5B5"/>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228600" y="2880360"/>
            <a:ext cx="64008" cy="1645920"/>
          </a:xfrm>
          <a:prstGeom prst="rect">
            <a:avLst/>
          </a:prstGeom>
          <a:solidFill>
            <a:srgbClr val="E8871A"/>
          </a:solidFill>
          <a:ln w="12700">
            <a:solidFill>
              <a:srgbClr val="E8871A"/>
            </a:solidFill>
            <a:prstDash val="solid"/>
          </a:ln>
        </p:spPr>
      </p:sp>
      <p:sp>
        <p:nvSpPr>
          <p:cNvPr id="18" name="Text 16"/>
          <p:cNvSpPr/>
          <p:nvPr/>
        </p:nvSpPr>
        <p:spPr>
          <a:xfrm>
            <a:off x="365760" y="2990088"/>
            <a:ext cx="2514600" cy="411480"/>
          </a:xfrm>
          <a:prstGeom prst="rect">
            <a:avLst/>
          </a:prstGeom>
          <a:noFill/>
          <a:ln/>
        </p:spPr>
        <p:txBody>
          <a:bodyPr wrap="square" lIns="0" tIns="0" rIns="0" bIns="0" rtlCol="0" anchor="ctr"/>
          <a:lstStyle/>
          <a:p>
            <a:pPr algn="l" indent="0" marL="0">
              <a:buNone/>
            </a:pPr>
            <a:r>
              <a:rPr lang="en-US" sz="1300" b="1" dirty="0">
                <a:solidFill>
                  <a:srgbClr val="1A0A2E"/>
                </a:solidFill>
                <a:latin typeface="Georgia" pitchFamily="34" charset="0"/>
                <a:ea typeface="Georgia" pitchFamily="34" charset="-122"/>
                <a:cs typeface="Georgia" pitchFamily="34" charset="-120"/>
              </a:rPr>
              <a:t>🔍  Verse Explanation</a:t>
            </a:r>
            <a:endParaRPr lang="en-US" sz="1300" dirty="0"/>
          </a:p>
        </p:txBody>
      </p:sp>
      <p:sp>
        <p:nvSpPr>
          <p:cNvPr id="19" name="Text 17"/>
          <p:cNvSpPr/>
          <p:nvPr/>
        </p:nvSpPr>
        <p:spPr>
          <a:xfrm>
            <a:off x="365760" y="3447288"/>
            <a:ext cx="2514600" cy="960120"/>
          </a:xfrm>
          <a:prstGeom prst="rect">
            <a:avLst/>
          </a:prstGeom>
          <a:noFill/>
          <a:ln/>
        </p:spPr>
        <p:txBody>
          <a:bodyPr wrap="square" lIns="0" tIns="0" rIns="0" bIns="0" rtlCol="0" anchor="ctr"/>
          <a:lstStyle/>
          <a:p>
            <a:pPr algn="l" indent="0" marL="0">
              <a:buNone/>
            </a:pPr>
            <a:r>
              <a:rPr lang="en-US" sz="1100" dirty="0">
                <a:solidFill>
                  <a:srgbClr val="444444"/>
                </a:solidFill>
                <a:latin typeface="Calibri" pitchFamily="34" charset="0"/>
                <a:ea typeface="Calibri" pitchFamily="34" charset="-122"/>
                <a:cs typeface="Calibri" pitchFamily="34" charset="-120"/>
              </a:rPr>
              <a:t>Provides transliteration, word-by-word meaning, and modern interpretation</a:t>
            </a:r>
            <a:endParaRPr lang="en-US" sz="1100" dirty="0"/>
          </a:p>
        </p:txBody>
      </p:sp>
      <p:sp>
        <p:nvSpPr>
          <p:cNvPr id="20" name="Shape 18"/>
          <p:cNvSpPr/>
          <p:nvPr/>
        </p:nvSpPr>
        <p:spPr>
          <a:xfrm>
            <a:off x="3200400" y="2880360"/>
            <a:ext cx="2743200" cy="1645920"/>
          </a:xfrm>
          <a:prstGeom prst="rect">
            <a:avLst/>
          </a:prstGeom>
          <a:solidFill>
            <a:srgbClr val="FFFFFF"/>
          </a:solidFill>
          <a:ln w="12700">
            <a:solidFill>
              <a:srgbClr val="E8D5B5"/>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3200400" y="2880360"/>
            <a:ext cx="64008" cy="1645920"/>
          </a:xfrm>
          <a:prstGeom prst="rect">
            <a:avLst/>
          </a:prstGeom>
          <a:solidFill>
            <a:srgbClr val="E8871A"/>
          </a:solidFill>
          <a:ln w="12700">
            <a:solidFill>
              <a:srgbClr val="E8871A"/>
            </a:solidFill>
            <a:prstDash val="solid"/>
          </a:ln>
        </p:spPr>
      </p:sp>
      <p:sp>
        <p:nvSpPr>
          <p:cNvPr id="22" name="Text 20"/>
          <p:cNvSpPr/>
          <p:nvPr/>
        </p:nvSpPr>
        <p:spPr>
          <a:xfrm>
            <a:off x="3337560" y="2990088"/>
            <a:ext cx="2514600" cy="411480"/>
          </a:xfrm>
          <a:prstGeom prst="rect">
            <a:avLst/>
          </a:prstGeom>
          <a:noFill/>
          <a:ln/>
        </p:spPr>
        <p:txBody>
          <a:bodyPr wrap="square" lIns="0" tIns="0" rIns="0" bIns="0" rtlCol="0" anchor="ctr"/>
          <a:lstStyle/>
          <a:p>
            <a:pPr algn="l" indent="0" marL="0">
              <a:buNone/>
            </a:pPr>
            <a:r>
              <a:rPr lang="en-US" sz="1300" b="1" dirty="0">
                <a:solidFill>
                  <a:srgbClr val="1A0A2E"/>
                </a:solidFill>
                <a:latin typeface="Georgia" pitchFamily="34" charset="0"/>
                <a:ea typeface="Georgia" pitchFamily="34" charset="-122"/>
                <a:cs typeface="Georgia" pitchFamily="34" charset="-120"/>
              </a:rPr>
              <a:t>🌟  Daily Wisdom Mode</a:t>
            </a:r>
            <a:endParaRPr lang="en-US" sz="1300" dirty="0"/>
          </a:p>
        </p:txBody>
      </p:sp>
      <p:sp>
        <p:nvSpPr>
          <p:cNvPr id="23" name="Text 21"/>
          <p:cNvSpPr/>
          <p:nvPr/>
        </p:nvSpPr>
        <p:spPr>
          <a:xfrm>
            <a:off x="3337560" y="3447288"/>
            <a:ext cx="2514600" cy="960120"/>
          </a:xfrm>
          <a:prstGeom prst="rect">
            <a:avLst/>
          </a:prstGeom>
          <a:noFill/>
          <a:ln/>
        </p:spPr>
        <p:txBody>
          <a:bodyPr wrap="square" lIns="0" tIns="0" rIns="0" bIns="0" rtlCol="0" anchor="ctr"/>
          <a:lstStyle/>
          <a:p>
            <a:pPr algn="l" indent="0" marL="0">
              <a:buNone/>
            </a:pPr>
            <a:r>
              <a:rPr lang="en-US" sz="1100" dirty="0">
                <a:solidFill>
                  <a:srgbClr val="444444"/>
                </a:solidFill>
                <a:latin typeface="Calibri" pitchFamily="34" charset="0"/>
                <a:ea typeface="Calibri" pitchFamily="34" charset="-122"/>
                <a:cs typeface="Calibri" pitchFamily="34" charset="-120"/>
              </a:rPr>
              <a:t>Delivers a curated shloka each day with guided reflection prompts</a:t>
            </a:r>
            <a:endParaRPr lang="en-US" sz="1100" dirty="0"/>
          </a:p>
        </p:txBody>
      </p:sp>
      <p:sp>
        <p:nvSpPr>
          <p:cNvPr id="24" name="Shape 22"/>
          <p:cNvSpPr/>
          <p:nvPr/>
        </p:nvSpPr>
        <p:spPr>
          <a:xfrm>
            <a:off x="6172200" y="2880360"/>
            <a:ext cx="2743200" cy="1645920"/>
          </a:xfrm>
          <a:prstGeom prst="rect">
            <a:avLst/>
          </a:prstGeom>
          <a:solidFill>
            <a:srgbClr val="FFFFFF"/>
          </a:solidFill>
          <a:ln w="12700">
            <a:solidFill>
              <a:srgbClr val="E8D5B5"/>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6172200" y="2880360"/>
            <a:ext cx="64008" cy="1645920"/>
          </a:xfrm>
          <a:prstGeom prst="rect">
            <a:avLst/>
          </a:prstGeom>
          <a:solidFill>
            <a:srgbClr val="E8871A"/>
          </a:solidFill>
          <a:ln w="12700">
            <a:solidFill>
              <a:srgbClr val="E8871A"/>
            </a:solidFill>
            <a:prstDash val="solid"/>
          </a:ln>
        </p:spPr>
      </p:sp>
      <p:sp>
        <p:nvSpPr>
          <p:cNvPr id="26" name="Text 24"/>
          <p:cNvSpPr/>
          <p:nvPr/>
        </p:nvSpPr>
        <p:spPr>
          <a:xfrm>
            <a:off x="6309360" y="2990088"/>
            <a:ext cx="2514600" cy="411480"/>
          </a:xfrm>
          <a:prstGeom prst="rect">
            <a:avLst/>
          </a:prstGeom>
          <a:noFill/>
          <a:ln/>
        </p:spPr>
        <p:txBody>
          <a:bodyPr wrap="square" lIns="0" tIns="0" rIns="0" bIns="0" rtlCol="0" anchor="ctr"/>
          <a:lstStyle/>
          <a:p>
            <a:pPr algn="l" indent="0" marL="0">
              <a:buNone/>
            </a:pPr>
            <a:r>
              <a:rPr lang="en-US" sz="1300" b="1" dirty="0">
                <a:solidFill>
                  <a:srgbClr val="1A0A2E"/>
                </a:solidFill>
                <a:latin typeface="Georgia" pitchFamily="34" charset="0"/>
                <a:ea typeface="Georgia" pitchFamily="34" charset="-122"/>
                <a:cs typeface="Georgia" pitchFamily="34" charset="-120"/>
              </a:rPr>
              <a:t>🛡️  Ethical Guardrails</a:t>
            </a:r>
            <a:endParaRPr lang="en-US" sz="1300" dirty="0"/>
          </a:p>
        </p:txBody>
      </p:sp>
      <p:sp>
        <p:nvSpPr>
          <p:cNvPr id="27" name="Text 25"/>
          <p:cNvSpPr/>
          <p:nvPr/>
        </p:nvSpPr>
        <p:spPr>
          <a:xfrm>
            <a:off x="6309360" y="3447288"/>
            <a:ext cx="2514600" cy="960120"/>
          </a:xfrm>
          <a:prstGeom prst="rect">
            <a:avLst/>
          </a:prstGeom>
          <a:noFill/>
          <a:ln/>
        </p:spPr>
        <p:txBody>
          <a:bodyPr wrap="square" lIns="0" tIns="0" rIns="0" bIns="0" rtlCol="0" anchor="ctr"/>
          <a:lstStyle/>
          <a:p>
            <a:pPr algn="l" indent="0" marL="0">
              <a:buNone/>
            </a:pPr>
            <a:r>
              <a:rPr lang="en-US" sz="1100" dirty="0">
                <a:solidFill>
                  <a:srgbClr val="444444"/>
                </a:solidFill>
                <a:latin typeface="Calibri" pitchFamily="34" charset="0"/>
                <a:ea typeface="Calibri" pitchFamily="34" charset="-122"/>
                <a:cs typeface="Calibri" pitchFamily="34" charset="-120"/>
              </a:rPr>
              <a:t>Responses are bounded strictly to Gita teachings — no misinformation</a:t>
            </a:r>
            <a:endParaRPr lang="en-US" sz="1100" dirty="0"/>
          </a:p>
        </p:txBody>
      </p:sp>
      <p:sp>
        <p:nvSpPr>
          <p:cNvPr id="28" name="Shape 26"/>
          <p:cNvSpPr/>
          <p:nvPr/>
        </p:nvSpPr>
        <p:spPr>
          <a:xfrm>
            <a:off x="0" y="4846320"/>
            <a:ext cx="9144000" cy="73152"/>
          </a:xfrm>
          <a:prstGeom prst="rect">
            <a:avLst/>
          </a:prstGeom>
          <a:solidFill>
            <a:srgbClr val="E8871A"/>
          </a:solidFill>
          <a:ln w="12700">
            <a:solidFill>
              <a:srgbClr val="E8871A"/>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871A"/>
          </a:solidFill>
          <a:ln w="12700">
            <a:solidFill>
              <a:srgbClr val="E8871A"/>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algn="l" indent="0" marL="0">
              <a:buNone/>
            </a:pPr>
            <a:r>
              <a:rPr lang="en-US" sz="3000" b="1" dirty="0">
                <a:solidFill>
                  <a:srgbClr val="F5C842"/>
                </a:solidFill>
                <a:latin typeface="Georgia" pitchFamily="34" charset="0"/>
                <a:ea typeface="Georgia" pitchFamily="34" charset="-122"/>
                <a:cs typeface="Georgia" pitchFamily="34" charset="-120"/>
              </a:rPr>
              <a:t>How It Works</a:t>
            </a:r>
            <a:endParaRPr lang="en-US" sz="3000" dirty="0"/>
          </a:p>
        </p:txBody>
      </p:sp>
      <p:sp>
        <p:nvSpPr>
          <p:cNvPr id="4" name="Shape 2"/>
          <p:cNvSpPr/>
          <p:nvPr/>
        </p:nvSpPr>
        <p:spPr>
          <a:xfrm>
            <a:off x="274320" y="914400"/>
            <a:ext cx="3840480" cy="3840480"/>
          </a:xfrm>
          <a:prstGeom prst="rect">
            <a:avLst/>
          </a:prstGeom>
          <a:solidFill>
            <a:srgbClr val="261550"/>
          </a:solidFill>
          <a:ln w="12700">
            <a:solidFill>
              <a:srgbClr val="E8871A"/>
            </a:solidFill>
            <a:prstDash val="solid"/>
          </a:ln>
        </p:spPr>
      </p:sp>
      <p:sp>
        <p:nvSpPr>
          <p:cNvPr id="5" name="Text 3"/>
          <p:cNvSpPr/>
          <p:nvPr/>
        </p:nvSpPr>
        <p:spPr>
          <a:xfrm>
            <a:off x="365760" y="1005840"/>
            <a:ext cx="3657600" cy="365760"/>
          </a:xfrm>
          <a:prstGeom prst="rect">
            <a:avLst/>
          </a:prstGeom>
          <a:noFill/>
          <a:ln/>
        </p:spPr>
        <p:txBody>
          <a:bodyPr wrap="square" lIns="0" tIns="0" rIns="0" bIns="0" rtlCol="0" anchor="ctr"/>
          <a:lstStyle/>
          <a:p>
            <a:pPr algn="l" indent="0" marL="0">
              <a:buNone/>
            </a:pPr>
            <a:r>
              <a:rPr lang="en-US" sz="1300" b="1" dirty="0">
                <a:solidFill>
                  <a:srgbClr val="E8871A"/>
                </a:solidFill>
                <a:latin typeface="Georgia" pitchFamily="34" charset="0"/>
                <a:ea typeface="Georgia" pitchFamily="34" charset="-122"/>
                <a:cs typeface="Georgia" pitchFamily="34" charset="-120"/>
              </a:rPr>
              <a:t>💬  Sample Interaction</a:t>
            </a:r>
            <a:endParaRPr lang="en-US" sz="1300" dirty="0"/>
          </a:p>
        </p:txBody>
      </p:sp>
      <p:sp>
        <p:nvSpPr>
          <p:cNvPr id="6" name="Shape 4"/>
          <p:cNvSpPr/>
          <p:nvPr/>
        </p:nvSpPr>
        <p:spPr>
          <a:xfrm>
            <a:off x="457200" y="1508760"/>
            <a:ext cx="2926080" cy="548640"/>
          </a:xfrm>
          <a:prstGeom prst="rect">
            <a:avLst/>
          </a:prstGeom>
          <a:solidFill>
            <a:srgbClr val="2D1B69"/>
          </a:solidFill>
          <a:ln w="12700">
            <a:solidFill>
              <a:srgbClr val="2D1B69"/>
            </a:solidFill>
            <a:prstDash val="solid"/>
          </a:ln>
        </p:spPr>
      </p:sp>
      <p:sp>
        <p:nvSpPr>
          <p:cNvPr id="7" name="Text 5"/>
          <p:cNvSpPr/>
          <p:nvPr/>
        </p:nvSpPr>
        <p:spPr>
          <a:xfrm>
            <a:off x="502920" y="1527048"/>
            <a:ext cx="2880360" cy="502920"/>
          </a:xfrm>
          <a:prstGeom prst="rect">
            <a:avLst/>
          </a:prstGeom>
          <a:noFill/>
          <a:ln/>
        </p:spPr>
        <p:txBody>
          <a:bodyPr wrap="square" lIns="0" tIns="0" rIns="0" bIns="0" rtlCol="0" anchor="ctr"/>
          <a:lstStyle/>
          <a:p>
            <a:pPr algn="l" indent="0" marL="0">
              <a:buNone/>
            </a:pPr>
            <a:r>
              <a:rPr lang="en-US" sz="1000" dirty="0">
                <a:solidFill>
                  <a:srgbClr val="FFF8E7"/>
                </a:solidFill>
                <a:latin typeface="Calibri" pitchFamily="34" charset="0"/>
                <a:ea typeface="Calibri" pitchFamily="34" charset="-122"/>
                <a:cs typeface="Calibri" pitchFamily="34" charset="-120"/>
              </a:rPr>
              <a:t>User:  "I am anxious about my future. What does the Gita say?"</a:t>
            </a:r>
            <a:endParaRPr lang="en-US" sz="1000" dirty="0"/>
          </a:p>
        </p:txBody>
      </p:sp>
      <p:sp>
        <p:nvSpPr>
          <p:cNvPr id="8" name="Shape 6"/>
          <p:cNvSpPr/>
          <p:nvPr/>
        </p:nvSpPr>
        <p:spPr>
          <a:xfrm>
            <a:off x="457200" y="2240280"/>
            <a:ext cx="3383280" cy="1188720"/>
          </a:xfrm>
          <a:prstGeom prst="rect">
            <a:avLst/>
          </a:prstGeom>
          <a:solidFill>
            <a:srgbClr val="2A1A4E"/>
          </a:solidFill>
          <a:ln w="12700">
            <a:solidFill>
              <a:srgbClr val="F5C842"/>
            </a:solidFill>
            <a:prstDash val="solid"/>
          </a:ln>
        </p:spPr>
      </p:sp>
      <p:sp>
        <p:nvSpPr>
          <p:cNvPr id="9" name="Text 7"/>
          <p:cNvSpPr/>
          <p:nvPr/>
        </p:nvSpPr>
        <p:spPr>
          <a:xfrm>
            <a:off x="548640" y="2286000"/>
            <a:ext cx="3200400" cy="274320"/>
          </a:xfrm>
          <a:prstGeom prst="rect">
            <a:avLst/>
          </a:prstGeom>
          <a:noFill/>
          <a:ln/>
        </p:spPr>
        <p:txBody>
          <a:bodyPr wrap="square" lIns="0" tIns="0" rIns="0" bIns="0" rtlCol="0" anchor="ctr"/>
          <a:lstStyle/>
          <a:p>
            <a:pPr algn="l" indent="0" marL="0">
              <a:buNone/>
            </a:pPr>
            <a:r>
              <a:rPr lang="en-US" sz="1000" b="1" dirty="0">
                <a:solidFill>
                  <a:srgbClr val="F5C842"/>
                </a:solidFill>
                <a:latin typeface="Calibri" pitchFamily="34" charset="0"/>
                <a:ea typeface="Calibri" pitchFamily="34" charset="-122"/>
                <a:cs typeface="Calibri" pitchFamily="34" charset="-120"/>
              </a:rPr>
              <a:t>🤖  Gita Bot:</a:t>
            </a:r>
            <a:endParaRPr lang="en-US" sz="1000" dirty="0"/>
          </a:p>
        </p:txBody>
      </p:sp>
      <p:sp>
        <p:nvSpPr>
          <p:cNvPr id="10" name="Text 8"/>
          <p:cNvSpPr/>
          <p:nvPr/>
        </p:nvSpPr>
        <p:spPr>
          <a:xfrm>
            <a:off x="548640" y="2578608"/>
            <a:ext cx="3200400" cy="777240"/>
          </a:xfrm>
          <a:prstGeom prst="rect">
            <a:avLst/>
          </a:prstGeom>
          <a:noFill/>
          <a:ln/>
        </p:spPr>
        <p:txBody>
          <a:bodyPr wrap="square" lIns="0" tIns="0" rIns="0" bIns="0" rtlCol="0" anchor="ctr"/>
          <a:lstStyle/>
          <a:p>
            <a:pPr algn="l" indent="0" marL="0">
              <a:buNone/>
            </a:pPr>
            <a:r>
              <a:rPr lang="en-US" sz="950" dirty="0">
                <a:solidFill>
                  <a:srgbClr val="FFF8E7"/>
                </a:solidFill>
                <a:latin typeface="Calibri" pitchFamily="34" charset="0"/>
                <a:ea typeface="Calibri" pitchFamily="34" charset="-122"/>
                <a:cs typeface="Calibri" pitchFamily="34" charset="-120"/>
              </a:rPr>
              <a:t>Chapter 2, Verse 47:</a:t>
            </a:r>
            <a:endParaRPr lang="en-US" sz="950" dirty="0"/>
          </a:p>
          <a:p>
            <a:pPr algn="l" indent="0" marL="0">
              <a:buNone/>
            </a:pPr>
            <a:r>
              <a:rPr lang="en-US" sz="950" dirty="0">
                <a:solidFill>
                  <a:srgbClr val="FFF8E7"/>
                </a:solidFill>
                <a:latin typeface="Calibri" pitchFamily="34" charset="0"/>
                <a:ea typeface="Calibri" pitchFamily="34" charset="-122"/>
                <a:cs typeface="Calibri" pitchFamily="34" charset="-120"/>
              </a:rPr>
              <a:t>"You have the right to perform your duties, but not to the fruits thereof..."</a:t>
            </a:r>
            <a:endParaRPr lang="en-US" sz="950" dirty="0"/>
          </a:p>
          <a:p>
            <a:pPr algn="l" indent="0" marL="0">
              <a:buNone/>
            </a:pPr>
            <a:r>
              <a:rPr lang="en-US" sz="950" dirty="0">
                <a:solidFill>
                  <a:srgbClr val="FFF8E7"/>
                </a:solidFill>
                <a:latin typeface="Calibri" pitchFamily="34" charset="0"/>
                <a:ea typeface="Calibri" pitchFamily="34" charset="-122"/>
                <a:cs typeface="Calibri" pitchFamily="34" charset="-120"/>
              </a:rPr>
              <a:t>→ Focus on effort, not outcomes.</a:t>
            </a:r>
            <a:endParaRPr lang="en-US" sz="950" dirty="0"/>
          </a:p>
        </p:txBody>
      </p:sp>
      <p:sp>
        <p:nvSpPr>
          <p:cNvPr id="11" name="Shape 9"/>
          <p:cNvSpPr/>
          <p:nvPr/>
        </p:nvSpPr>
        <p:spPr>
          <a:xfrm>
            <a:off x="457200" y="3566160"/>
            <a:ext cx="3291840" cy="411480"/>
          </a:xfrm>
          <a:prstGeom prst="rect">
            <a:avLst/>
          </a:prstGeom>
          <a:solidFill>
            <a:srgbClr val="E8871A"/>
          </a:solidFill>
          <a:ln w="12700">
            <a:solidFill>
              <a:srgbClr val="E8871A"/>
            </a:solidFill>
            <a:prstDash val="solid"/>
          </a:ln>
        </p:spPr>
      </p:sp>
      <p:sp>
        <p:nvSpPr>
          <p:cNvPr id="12" name="Text 10"/>
          <p:cNvSpPr/>
          <p:nvPr/>
        </p:nvSpPr>
        <p:spPr>
          <a:xfrm>
            <a:off x="502920" y="3584448"/>
            <a:ext cx="3200400" cy="365760"/>
          </a:xfrm>
          <a:prstGeom prst="rect">
            <a:avLst/>
          </a:prstGeom>
          <a:noFill/>
          <a:ln/>
        </p:spPr>
        <p:txBody>
          <a:bodyPr wrap="square" lIns="0" tIns="0" rIns="0" bIns="0" rtlCol="0" anchor="ctr"/>
          <a:lstStyle/>
          <a:p>
            <a:pPr algn="l" indent="0" marL="0">
              <a:buNone/>
            </a:pPr>
            <a:r>
              <a:rPr lang="en-US" sz="1000" b="1" dirty="0">
                <a:solidFill>
                  <a:srgbClr val="1A0A2E"/>
                </a:solidFill>
                <a:latin typeface="Calibri" pitchFamily="34" charset="0"/>
                <a:ea typeface="Calibri" pitchFamily="34" charset="-122"/>
                <a:cs typeface="Calibri" pitchFamily="34" charset="-120"/>
              </a:rPr>
              <a:t>📖  Full shloka + audio + commentary →</a:t>
            </a:r>
            <a:endParaRPr lang="en-US" sz="1000" dirty="0"/>
          </a:p>
        </p:txBody>
      </p:sp>
      <p:sp>
        <p:nvSpPr>
          <p:cNvPr id="13" name="Shape 11"/>
          <p:cNvSpPr/>
          <p:nvPr/>
        </p:nvSpPr>
        <p:spPr>
          <a:xfrm>
            <a:off x="4572000" y="1005840"/>
            <a:ext cx="502920" cy="502920"/>
          </a:xfrm>
          <a:prstGeom prst="ellipse">
            <a:avLst/>
          </a:prstGeom>
          <a:solidFill>
            <a:srgbClr val="E8871A"/>
          </a:solidFill>
          <a:ln w="12700">
            <a:solidFill>
              <a:srgbClr val="E8871A"/>
            </a:solidFill>
            <a:prstDash val="solid"/>
          </a:ln>
        </p:spPr>
      </p:sp>
      <p:sp>
        <p:nvSpPr>
          <p:cNvPr id="14" name="Text 12"/>
          <p:cNvSpPr/>
          <p:nvPr/>
        </p:nvSpPr>
        <p:spPr>
          <a:xfrm>
            <a:off x="4572000" y="1005840"/>
            <a:ext cx="502920" cy="502920"/>
          </a:xfrm>
          <a:prstGeom prst="rect">
            <a:avLst/>
          </a:prstGeom>
          <a:noFill/>
          <a:ln/>
        </p:spPr>
        <p:txBody>
          <a:bodyPr wrap="square" lIns="0" tIns="0" rIns="0" bIns="0" rtlCol="0" anchor="ctr"/>
          <a:lstStyle/>
          <a:p>
            <a:pPr algn="ctr" indent="0" marL="0">
              <a:buNone/>
            </a:pPr>
            <a:r>
              <a:rPr lang="en-US" sz="1100" b="1" dirty="0">
                <a:solidFill>
                  <a:srgbClr val="1A0A2E"/>
                </a:solidFill>
                <a:latin typeface="Georgia" pitchFamily="34" charset="0"/>
                <a:ea typeface="Georgia" pitchFamily="34" charset="-122"/>
                <a:cs typeface="Georgia" pitchFamily="34" charset="-120"/>
              </a:rPr>
              <a:t>01</a:t>
            </a:r>
            <a:endParaRPr lang="en-US" sz="1100" dirty="0"/>
          </a:p>
        </p:txBody>
      </p:sp>
      <p:sp>
        <p:nvSpPr>
          <p:cNvPr id="15" name="Text 13"/>
          <p:cNvSpPr/>
          <p:nvPr/>
        </p:nvSpPr>
        <p:spPr>
          <a:xfrm>
            <a:off x="5166360" y="987552"/>
            <a:ext cx="3657600" cy="274320"/>
          </a:xfrm>
          <a:prstGeom prst="rect">
            <a:avLst/>
          </a:prstGeom>
          <a:noFill/>
          <a:ln/>
        </p:spPr>
        <p:txBody>
          <a:bodyPr wrap="square" lIns="0" tIns="0" rIns="0" bIns="0" rtlCol="0" anchor="ctr"/>
          <a:lstStyle/>
          <a:p>
            <a:pPr algn="l" indent="0" marL="0">
              <a:buNone/>
            </a:pPr>
            <a:r>
              <a:rPr lang="en-US" sz="1300" b="1" dirty="0">
                <a:solidFill>
                  <a:srgbClr val="F5C842"/>
                </a:solidFill>
                <a:latin typeface="Georgia" pitchFamily="34" charset="0"/>
                <a:ea typeface="Georgia" pitchFamily="34" charset="-122"/>
                <a:cs typeface="Georgia" pitchFamily="34" charset="-120"/>
              </a:rPr>
              <a:t>Ask Your Question</a:t>
            </a:r>
            <a:endParaRPr lang="en-US" sz="1300" dirty="0"/>
          </a:p>
        </p:txBody>
      </p:sp>
      <p:sp>
        <p:nvSpPr>
          <p:cNvPr id="16" name="Text 14"/>
          <p:cNvSpPr/>
          <p:nvPr/>
        </p:nvSpPr>
        <p:spPr>
          <a:xfrm>
            <a:off x="5166360" y="1280160"/>
            <a:ext cx="3657600" cy="274320"/>
          </a:xfrm>
          <a:prstGeom prst="rect">
            <a:avLst/>
          </a:prstGeom>
          <a:noFill/>
          <a:ln/>
        </p:spPr>
        <p:txBody>
          <a:bodyPr wrap="square" lIns="0" tIns="0" rIns="0" bIns="0" rtlCol="0" anchor="ctr"/>
          <a:lstStyle/>
          <a:p>
            <a:pPr algn="l" indent="0" marL="0">
              <a:buNone/>
            </a:pPr>
            <a:r>
              <a:rPr lang="en-US" sz="1100" dirty="0">
                <a:solidFill>
                  <a:srgbClr val="C4A96B"/>
                </a:solidFill>
                <a:latin typeface="Calibri" pitchFamily="34" charset="0"/>
                <a:ea typeface="Calibri" pitchFamily="34" charset="-122"/>
                <a:cs typeface="Calibri" pitchFamily="34" charset="-120"/>
              </a:rPr>
              <a:t>Type or speak your query in any language</a:t>
            </a:r>
            <a:endParaRPr lang="en-US" sz="1100" dirty="0"/>
          </a:p>
        </p:txBody>
      </p:sp>
      <p:sp>
        <p:nvSpPr>
          <p:cNvPr id="17" name="Shape 15"/>
          <p:cNvSpPr/>
          <p:nvPr/>
        </p:nvSpPr>
        <p:spPr>
          <a:xfrm>
            <a:off x="4828032" y="1554480"/>
            <a:ext cx="0" cy="320040"/>
          </a:xfrm>
          <a:prstGeom prst="line">
            <a:avLst/>
          </a:prstGeom>
          <a:noFill/>
          <a:ln w="12700">
            <a:solidFill>
              <a:srgbClr val="E8871A"/>
            </a:solidFill>
            <a:prstDash val="dash"/>
          </a:ln>
        </p:spPr>
      </p:sp>
      <p:sp>
        <p:nvSpPr>
          <p:cNvPr id="18" name="Shape 16"/>
          <p:cNvSpPr/>
          <p:nvPr/>
        </p:nvSpPr>
        <p:spPr>
          <a:xfrm>
            <a:off x="4572000" y="1965960"/>
            <a:ext cx="502920" cy="502920"/>
          </a:xfrm>
          <a:prstGeom prst="ellipse">
            <a:avLst/>
          </a:prstGeom>
          <a:solidFill>
            <a:srgbClr val="E8871A"/>
          </a:solidFill>
          <a:ln w="12700">
            <a:solidFill>
              <a:srgbClr val="E8871A"/>
            </a:solidFill>
            <a:prstDash val="solid"/>
          </a:ln>
        </p:spPr>
      </p:sp>
      <p:sp>
        <p:nvSpPr>
          <p:cNvPr id="19" name="Text 17"/>
          <p:cNvSpPr/>
          <p:nvPr/>
        </p:nvSpPr>
        <p:spPr>
          <a:xfrm>
            <a:off x="4572000" y="1965960"/>
            <a:ext cx="502920" cy="502920"/>
          </a:xfrm>
          <a:prstGeom prst="rect">
            <a:avLst/>
          </a:prstGeom>
          <a:noFill/>
          <a:ln/>
        </p:spPr>
        <p:txBody>
          <a:bodyPr wrap="square" lIns="0" tIns="0" rIns="0" bIns="0" rtlCol="0" anchor="ctr"/>
          <a:lstStyle/>
          <a:p>
            <a:pPr algn="ctr" indent="0" marL="0">
              <a:buNone/>
            </a:pPr>
            <a:r>
              <a:rPr lang="en-US" sz="1100" b="1" dirty="0">
                <a:solidFill>
                  <a:srgbClr val="1A0A2E"/>
                </a:solidFill>
                <a:latin typeface="Georgia" pitchFamily="34" charset="0"/>
                <a:ea typeface="Georgia" pitchFamily="34" charset="-122"/>
                <a:cs typeface="Georgia" pitchFamily="34" charset="-120"/>
              </a:rPr>
              <a:t>02</a:t>
            </a:r>
            <a:endParaRPr lang="en-US" sz="1100" dirty="0"/>
          </a:p>
        </p:txBody>
      </p:sp>
      <p:sp>
        <p:nvSpPr>
          <p:cNvPr id="20" name="Text 18"/>
          <p:cNvSpPr/>
          <p:nvPr/>
        </p:nvSpPr>
        <p:spPr>
          <a:xfrm>
            <a:off x="5166360" y="1947672"/>
            <a:ext cx="3657600" cy="274320"/>
          </a:xfrm>
          <a:prstGeom prst="rect">
            <a:avLst/>
          </a:prstGeom>
          <a:noFill/>
          <a:ln/>
        </p:spPr>
        <p:txBody>
          <a:bodyPr wrap="square" lIns="0" tIns="0" rIns="0" bIns="0" rtlCol="0" anchor="ctr"/>
          <a:lstStyle/>
          <a:p>
            <a:pPr algn="l" indent="0" marL="0">
              <a:buNone/>
            </a:pPr>
            <a:r>
              <a:rPr lang="en-US" sz="1300" b="1" dirty="0">
                <a:solidFill>
                  <a:srgbClr val="F5C842"/>
                </a:solidFill>
                <a:latin typeface="Georgia" pitchFamily="34" charset="0"/>
                <a:ea typeface="Georgia" pitchFamily="34" charset="-122"/>
                <a:cs typeface="Georgia" pitchFamily="34" charset="-120"/>
              </a:rPr>
              <a:t>AI Processes Intent</a:t>
            </a:r>
            <a:endParaRPr lang="en-US" sz="1300" dirty="0"/>
          </a:p>
        </p:txBody>
      </p:sp>
      <p:sp>
        <p:nvSpPr>
          <p:cNvPr id="21" name="Text 19"/>
          <p:cNvSpPr/>
          <p:nvPr/>
        </p:nvSpPr>
        <p:spPr>
          <a:xfrm>
            <a:off x="5166360" y="2240280"/>
            <a:ext cx="3657600" cy="274320"/>
          </a:xfrm>
          <a:prstGeom prst="rect">
            <a:avLst/>
          </a:prstGeom>
          <a:noFill/>
          <a:ln/>
        </p:spPr>
        <p:txBody>
          <a:bodyPr wrap="square" lIns="0" tIns="0" rIns="0" bIns="0" rtlCol="0" anchor="ctr"/>
          <a:lstStyle/>
          <a:p>
            <a:pPr algn="l" indent="0" marL="0">
              <a:buNone/>
            </a:pPr>
            <a:r>
              <a:rPr lang="en-US" sz="1100" dirty="0">
                <a:solidFill>
                  <a:srgbClr val="C4A96B"/>
                </a:solidFill>
                <a:latin typeface="Calibri" pitchFamily="34" charset="0"/>
                <a:ea typeface="Calibri" pitchFamily="34" charset="-122"/>
                <a:cs typeface="Calibri" pitchFamily="34" charset="-120"/>
              </a:rPr>
              <a:t>NLP engine extracts meaning and emotional context</a:t>
            </a:r>
            <a:endParaRPr lang="en-US" sz="1100" dirty="0"/>
          </a:p>
        </p:txBody>
      </p:sp>
      <p:sp>
        <p:nvSpPr>
          <p:cNvPr id="22" name="Shape 20"/>
          <p:cNvSpPr/>
          <p:nvPr/>
        </p:nvSpPr>
        <p:spPr>
          <a:xfrm>
            <a:off x="4828032" y="2514600"/>
            <a:ext cx="0" cy="320040"/>
          </a:xfrm>
          <a:prstGeom prst="line">
            <a:avLst/>
          </a:prstGeom>
          <a:noFill/>
          <a:ln w="12700">
            <a:solidFill>
              <a:srgbClr val="E8871A"/>
            </a:solidFill>
            <a:prstDash val="dash"/>
          </a:ln>
        </p:spPr>
      </p:sp>
      <p:sp>
        <p:nvSpPr>
          <p:cNvPr id="23" name="Shape 21"/>
          <p:cNvSpPr/>
          <p:nvPr/>
        </p:nvSpPr>
        <p:spPr>
          <a:xfrm>
            <a:off x="4572000" y="2926080"/>
            <a:ext cx="502920" cy="502920"/>
          </a:xfrm>
          <a:prstGeom prst="ellipse">
            <a:avLst/>
          </a:prstGeom>
          <a:solidFill>
            <a:srgbClr val="E8871A"/>
          </a:solidFill>
          <a:ln w="12700">
            <a:solidFill>
              <a:srgbClr val="E8871A"/>
            </a:solidFill>
            <a:prstDash val="solid"/>
          </a:ln>
        </p:spPr>
      </p:sp>
      <p:sp>
        <p:nvSpPr>
          <p:cNvPr id="24" name="Text 22"/>
          <p:cNvSpPr/>
          <p:nvPr/>
        </p:nvSpPr>
        <p:spPr>
          <a:xfrm>
            <a:off x="4572000" y="2926080"/>
            <a:ext cx="502920" cy="502920"/>
          </a:xfrm>
          <a:prstGeom prst="rect">
            <a:avLst/>
          </a:prstGeom>
          <a:noFill/>
          <a:ln/>
        </p:spPr>
        <p:txBody>
          <a:bodyPr wrap="square" lIns="0" tIns="0" rIns="0" bIns="0" rtlCol="0" anchor="ctr"/>
          <a:lstStyle/>
          <a:p>
            <a:pPr algn="ctr" indent="0" marL="0">
              <a:buNone/>
            </a:pPr>
            <a:r>
              <a:rPr lang="en-US" sz="1100" b="1" dirty="0">
                <a:solidFill>
                  <a:srgbClr val="1A0A2E"/>
                </a:solidFill>
                <a:latin typeface="Georgia" pitchFamily="34" charset="0"/>
                <a:ea typeface="Georgia" pitchFamily="34" charset="-122"/>
                <a:cs typeface="Georgia" pitchFamily="34" charset="-120"/>
              </a:rPr>
              <a:t>03</a:t>
            </a:r>
            <a:endParaRPr lang="en-US" sz="1100" dirty="0"/>
          </a:p>
        </p:txBody>
      </p:sp>
      <p:sp>
        <p:nvSpPr>
          <p:cNvPr id="25" name="Text 23"/>
          <p:cNvSpPr/>
          <p:nvPr/>
        </p:nvSpPr>
        <p:spPr>
          <a:xfrm>
            <a:off x="5166360" y="2907792"/>
            <a:ext cx="3657600" cy="274320"/>
          </a:xfrm>
          <a:prstGeom prst="rect">
            <a:avLst/>
          </a:prstGeom>
          <a:noFill/>
          <a:ln/>
        </p:spPr>
        <p:txBody>
          <a:bodyPr wrap="square" lIns="0" tIns="0" rIns="0" bIns="0" rtlCol="0" anchor="ctr"/>
          <a:lstStyle/>
          <a:p>
            <a:pPr algn="l" indent="0" marL="0">
              <a:buNone/>
            </a:pPr>
            <a:r>
              <a:rPr lang="en-US" sz="1300" b="1" dirty="0">
                <a:solidFill>
                  <a:srgbClr val="F5C842"/>
                </a:solidFill>
                <a:latin typeface="Georgia" pitchFamily="34" charset="0"/>
                <a:ea typeface="Georgia" pitchFamily="34" charset="-122"/>
                <a:cs typeface="Georgia" pitchFamily="34" charset="-120"/>
              </a:rPr>
              <a:t>Shloka Retrieved</a:t>
            </a:r>
            <a:endParaRPr lang="en-US" sz="1300" dirty="0"/>
          </a:p>
        </p:txBody>
      </p:sp>
      <p:sp>
        <p:nvSpPr>
          <p:cNvPr id="26" name="Text 24"/>
          <p:cNvSpPr/>
          <p:nvPr/>
        </p:nvSpPr>
        <p:spPr>
          <a:xfrm>
            <a:off x="5166360" y="3200400"/>
            <a:ext cx="3657600" cy="274320"/>
          </a:xfrm>
          <a:prstGeom prst="rect">
            <a:avLst/>
          </a:prstGeom>
          <a:noFill/>
          <a:ln/>
        </p:spPr>
        <p:txBody>
          <a:bodyPr wrap="square" lIns="0" tIns="0" rIns="0" bIns="0" rtlCol="0" anchor="ctr"/>
          <a:lstStyle/>
          <a:p>
            <a:pPr algn="l" indent="0" marL="0">
              <a:buNone/>
            </a:pPr>
            <a:r>
              <a:rPr lang="en-US" sz="1100" dirty="0">
                <a:solidFill>
                  <a:srgbClr val="C4A96B"/>
                </a:solidFill>
                <a:latin typeface="Calibri" pitchFamily="34" charset="0"/>
                <a:ea typeface="Calibri" pitchFamily="34" charset="-122"/>
                <a:cs typeface="Calibri" pitchFamily="34" charset="-120"/>
              </a:rPr>
              <a:t>Vector search finds the most relevant verse</a:t>
            </a:r>
            <a:endParaRPr lang="en-US" sz="1100" dirty="0"/>
          </a:p>
        </p:txBody>
      </p:sp>
      <p:sp>
        <p:nvSpPr>
          <p:cNvPr id="27" name="Shape 25"/>
          <p:cNvSpPr/>
          <p:nvPr/>
        </p:nvSpPr>
        <p:spPr>
          <a:xfrm>
            <a:off x="4828032" y="3474720"/>
            <a:ext cx="0" cy="320040"/>
          </a:xfrm>
          <a:prstGeom prst="line">
            <a:avLst/>
          </a:prstGeom>
          <a:noFill/>
          <a:ln w="12700">
            <a:solidFill>
              <a:srgbClr val="E8871A"/>
            </a:solidFill>
            <a:prstDash val="dash"/>
          </a:ln>
        </p:spPr>
      </p:sp>
      <p:sp>
        <p:nvSpPr>
          <p:cNvPr id="28" name="Shape 26"/>
          <p:cNvSpPr/>
          <p:nvPr/>
        </p:nvSpPr>
        <p:spPr>
          <a:xfrm>
            <a:off x="4572000" y="3886200"/>
            <a:ext cx="502920" cy="502920"/>
          </a:xfrm>
          <a:prstGeom prst="ellipse">
            <a:avLst/>
          </a:prstGeom>
          <a:solidFill>
            <a:srgbClr val="E8871A"/>
          </a:solidFill>
          <a:ln w="12700">
            <a:solidFill>
              <a:srgbClr val="E8871A"/>
            </a:solidFill>
            <a:prstDash val="solid"/>
          </a:ln>
        </p:spPr>
      </p:sp>
      <p:sp>
        <p:nvSpPr>
          <p:cNvPr id="29" name="Text 27"/>
          <p:cNvSpPr/>
          <p:nvPr/>
        </p:nvSpPr>
        <p:spPr>
          <a:xfrm>
            <a:off x="4572000" y="3886200"/>
            <a:ext cx="502920" cy="502920"/>
          </a:xfrm>
          <a:prstGeom prst="rect">
            <a:avLst/>
          </a:prstGeom>
          <a:noFill/>
          <a:ln/>
        </p:spPr>
        <p:txBody>
          <a:bodyPr wrap="square" lIns="0" tIns="0" rIns="0" bIns="0" rtlCol="0" anchor="ctr"/>
          <a:lstStyle/>
          <a:p>
            <a:pPr algn="ctr" indent="0" marL="0">
              <a:buNone/>
            </a:pPr>
            <a:r>
              <a:rPr lang="en-US" sz="1100" b="1" dirty="0">
                <a:solidFill>
                  <a:srgbClr val="1A0A2E"/>
                </a:solidFill>
                <a:latin typeface="Georgia" pitchFamily="34" charset="0"/>
                <a:ea typeface="Georgia" pitchFamily="34" charset="-122"/>
                <a:cs typeface="Georgia" pitchFamily="34" charset="-120"/>
              </a:rPr>
              <a:t>04</a:t>
            </a:r>
            <a:endParaRPr lang="en-US" sz="1100" dirty="0"/>
          </a:p>
        </p:txBody>
      </p:sp>
      <p:sp>
        <p:nvSpPr>
          <p:cNvPr id="30" name="Text 28"/>
          <p:cNvSpPr/>
          <p:nvPr/>
        </p:nvSpPr>
        <p:spPr>
          <a:xfrm>
            <a:off x="5166360" y="3867912"/>
            <a:ext cx="3657600" cy="274320"/>
          </a:xfrm>
          <a:prstGeom prst="rect">
            <a:avLst/>
          </a:prstGeom>
          <a:noFill/>
          <a:ln/>
        </p:spPr>
        <p:txBody>
          <a:bodyPr wrap="square" lIns="0" tIns="0" rIns="0" bIns="0" rtlCol="0" anchor="ctr"/>
          <a:lstStyle/>
          <a:p>
            <a:pPr algn="l" indent="0" marL="0">
              <a:buNone/>
            </a:pPr>
            <a:r>
              <a:rPr lang="en-US" sz="1300" b="1" dirty="0">
                <a:solidFill>
                  <a:srgbClr val="F5C842"/>
                </a:solidFill>
                <a:latin typeface="Georgia" pitchFamily="34" charset="0"/>
                <a:ea typeface="Georgia" pitchFamily="34" charset="-122"/>
                <a:cs typeface="Georgia" pitchFamily="34" charset="-120"/>
              </a:rPr>
              <a:t>Wisdom Delivered</a:t>
            </a:r>
            <a:endParaRPr lang="en-US" sz="1300" dirty="0"/>
          </a:p>
        </p:txBody>
      </p:sp>
      <p:sp>
        <p:nvSpPr>
          <p:cNvPr id="31" name="Text 29"/>
          <p:cNvSpPr/>
          <p:nvPr/>
        </p:nvSpPr>
        <p:spPr>
          <a:xfrm>
            <a:off x="5166360" y="4160520"/>
            <a:ext cx="3657600" cy="274320"/>
          </a:xfrm>
          <a:prstGeom prst="rect">
            <a:avLst/>
          </a:prstGeom>
          <a:noFill/>
          <a:ln/>
        </p:spPr>
        <p:txBody>
          <a:bodyPr wrap="square" lIns="0" tIns="0" rIns="0" bIns="0" rtlCol="0" anchor="ctr"/>
          <a:lstStyle/>
          <a:p>
            <a:pPr algn="l" indent="0" marL="0">
              <a:buNone/>
            </a:pPr>
            <a:r>
              <a:rPr lang="en-US" sz="1100" dirty="0">
                <a:solidFill>
                  <a:srgbClr val="C4A96B"/>
                </a:solidFill>
                <a:latin typeface="Calibri" pitchFamily="34" charset="0"/>
                <a:ea typeface="Calibri" pitchFamily="34" charset="-122"/>
                <a:cs typeface="Calibri" pitchFamily="34" charset="-120"/>
              </a:rPr>
              <a:t>Explanation, commentary &amp; practical guidance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871A"/>
          </a:solidFill>
          <a:ln w="12700">
            <a:solidFill>
              <a:srgbClr val="E8871A"/>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algn="l" indent="0" marL="0">
              <a:buNone/>
            </a:pPr>
            <a:r>
              <a:rPr lang="en-US" sz="3000" b="1" dirty="0">
                <a:solidFill>
                  <a:srgbClr val="1A0A2E"/>
                </a:solidFill>
                <a:latin typeface="Georgia" pitchFamily="34" charset="0"/>
                <a:ea typeface="Georgia" pitchFamily="34" charset="-122"/>
                <a:cs typeface="Georgia" pitchFamily="34" charset="-120"/>
              </a:rPr>
              <a:t>Dataset &amp; AI Training</a:t>
            </a:r>
            <a:endParaRPr lang="en-US" sz="3000" dirty="0"/>
          </a:p>
        </p:txBody>
      </p:sp>
      <p:sp>
        <p:nvSpPr>
          <p:cNvPr id="4" name="Shape 2"/>
          <p:cNvSpPr/>
          <p:nvPr/>
        </p:nvSpPr>
        <p:spPr>
          <a:xfrm>
            <a:off x="274320" y="960120"/>
            <a:ext cx="5303520" cy="841248"/>
          </a:xfrm>
          <a:prstGeom prst="rect">
            <a:avLst/>
          </a:prstGeom>
          <a:solidFill>
            <a:srgbClr val="FFFFFF"/>
          </a:solidFill>
          <a:ln w="12700">
            <a:solidFill>
              <a:srgbClr val="DDD0BB"/>
            </a:solidFill>
            <a:prstDash val="solid"/>
          </a:ln>
        </p:spPr>
      </p:sp>
      <p:sp>
        <p:nvSpPr>
          <p:cNvPr id="5" name="Shape 3"/>
          <p:cNvSpPr/>
          <p:nvPr/>
        </p:nvSpPr>
        <p:spPr>
          <a:xfrm>
            <a:off x="274320" y="960120"/>
            <a:ext cx="64008" cy="841248"/>
          </a:xfrm>
          <a:prstGeom prst="rect">
            <a:avLst/>
          </a:prstGeom>
          <a:solidFill>
            <a:srgbClr val="E8871A"/>
          </a:solidFill>
          <a:ln w="12700">
            <a:solidFill>
              <a:srgbClr val="E8871A"/>
            </a:solidFill>
            <a:prstDash val="solid"/>
          </a:ln>
        </p:spPr>
      </p:sp>
      <p:sp>
        <p:nvSpPr>
          <p:cNvPr id="6" name="Text 4"/>
          <p:cNvSpPr/>
          <p:nvPr/>
        </p:nvSpPr>
        <p:spPr>
          <a:xfrm>
            <a:off x="411480" y="1005840"/>
            <a:ext cx="5029200" cy="274320"/>
          </a:xfrm>
          <a:prstGeom prst="rect">
            <a:avLst/>
          </a:prstGeom>
          <a:noFill/>
          <a:ln/>
        </p:spPr>
        <p:txBody>
          <a:bodyPr wrap="square" lIns="0" tIns="0" rIns="0" bIns="0" rtlCol="0" anchor="ctr"/>
          <a:lstStyle/>
          <a:p>
            <a:pPr algn="l" indent="0" marL="0">
              <a:buNone/>
            </a:pPr>
            <a:r>
              <a:rPr lang="en-US" sz="1200" b="1" dirty="0">
                <a:solidFill>
                  <a:srgbClr val="1A0A2E"/>
                </a:solidFill>
                <a:latin typeface="Georgia" pitchFamily="34" charset="0"/>
                <a:ea typeface="Georgia" pitchFamily="34" charset="-122"/>
                <a:cs typeface="Georgia" pitchFamily="34" charset="-120"/>
              </a:rPr>
              <a:t>📚  Corpus</a:t>
            </a:r>
            <a:endParaRPr lang="en-US" sz="1200" dirty="0"/>
          </a:p>
        </p:txBody>
      </p:sp>
      <p:sp>
        <p:nvSpPr>
          <p:cNvPr id="7" name="Text 5"/>
          <p:cNvSpPr/>
          <p:nvPr/>
        </p:nvSpPr>
        <p:spPr>
          <a:xfrm>
            <a:off x="411480" y="1298448"/>
            <a:ext cx="5029200" cy="457200"/>
          </a:xfrm>
          <a:prstGeom prst="rect">
            <a:avLst/>
          </a:prstGeom>
          <a:noFill/>
          <a:ln/>
        </p:spPr>
        <p:txBody>
          <a:bodyPr wrap="square" lIns="0" tIns="0" rIns="0" bIns="0" rtlCol="0" anchor="ctr"/>
          <a:lstStyle/>
          <a:p>
            <a:pPr algn="l" indent="0" marL="0">
              <a:buNone/>
            </a:pPr>
            <a:r>
              <a:rPr lang="en-US" sz="1050" dirty="0">
                <a:solidFill>
                  <a:srgbClr val="444444"/>
                </a:solidFill>
                <a:latin typeface="Calibri" pitchFamily="34" charset="0"/>
                <a:ea typeface="Calibri" pitchFamily="34" charset="-122"/>
                <a:cs typeface="Calibri" pitchFamily="34" charset="-120"/>
              </a:rPr>
              <a:t>All 700 shlokas with Sanskrit originals, Roman transliteration, multiple English translations (Prabhupada, Gambhiropananda, Sivananda)</a:t>
            </a:r>
            <a:endParaRPr lang="en-US" sz="1050" dirty="0"/>
          </a:p>
        </p:txBody>
      </p:sp>
      <p:sp>
        <p:nvSpPr>
          <p:cNvPr id="8" name="Shape 6"/>
          <p:cNvSpPr/>
          <p:nvPr/>
        </p:nvSpPr>
        <p:spPr>
          <a:xfrm>
            <a:off x="274320" y="1920240"/>
            <a:ext cx="5303520" cy="841248"/>
          </a:xfrm>
          <a:prstGeom prst="rect">
            <a:avLst/>
          </a:prstGeom>
          <a:solidFill>
            <a:srgbClr val="FFFFFF"/>
          </a:solidFill>
          <a:ln w="12700">
            <a:solidFill>
              <a:srgbClr val="DDD0BB"/>
            </a:solidFill>
            <a:prstDash val="solid"/>
          </a:ln>
        </p:spPr>
      </p:sp>
      <p:sp>
        <p:nvSpPr>
          <p:cNvPr id="9" name="Shape 7"/>
          <p:cNvSpPr/>
          <p:nvPr/>
        </p:nvSpPr>
        <p:spPr>
          <a:xfrm>
            <a:off x="274320" y="1920240"/>
            <a:ext cx="64008" cy="841248"/>
          </a:xfrm>
          <a:prstGeom prst="rect">
            <a:avLst/>
          </a:prstGeom>
          <a:solidFill>
            <a:srgbClr val="E8871A"/>
          </a:solidFill>
          <a:ln w="12700">
            <a:solidFill>
              <a:srgbClr val="E8871A"/>
            </a:solidFill>
            <a:prstDash val="solid"/>
          </a:ln>
        </p:spPr>
      </p:sp>
      <p:sp>
        <p:nvSpPr>
          <p:cNvPr id="10" name="Text 8"/>
          <p:cNvSpPr/>
          <p:nvPr/>
        </p:nvSpPr>
        <p:spPr>
          <a:xfrm>
            <a:off x="411480" y="1965960"/>
            <a:ext cx="5029200" cy="274320"/>
          </a:xfrm>
          <a:prstGeom prst="rect">
            <a:avLst/>
          </a:prstGeom>
          <a:noFill/>
          <a:ln/>
        </p:spPr>
        <p:txBody>
          <a:bodyPr wrap="square" lIns="0" tIns="0" rIns="0" bIns="0" rtlCol="0" anchor="ctr"/>
          <a:lstStyle/>
          <a:p>
            <a:pPr algn="l" indent="0" marL="0">
              <a:buNone/>
            </a:pPr>
            <a:r>
              <a:rPr lang="en-US" sz="1200" b="1" dirty="0">
                <a:solidFill>
                  <a:srgbClr val="1A0A2E"/>
                </a:solidFill>
                <a:latin typeface="Georgia" pitchFamily="34" charset="0"/>
                <a:ea typeface="Georgia" pitchFamily="34" charset="-122"/>
                <a:cs typeface="Georgia" pitchFamily="34" charset="-120"/>
              </a:rPr>
              <a:t>🏷️  Annotation</a:t>
            </a:r>
            <a:endParaRPr lang="en-US" sz="1200" dirty="0"/>
          </a:p>
        </p:txBody>
      </p:sp>
      <p:sp>
        <p:nvSpPr>
          <p:cNvPr id="11" name="Text 9"/>
          <p:cNvSpPr/>
          <p:nvPr/>
        </p:nvSpPr>
        <p:spPr>
          <a:xfrm>
            <a:off x="411480" y="2258568"/>
            <a:ext cx="5029200" cy="457200"/>
          </a:xfrm>
          <a:prstGeom prst="rect">
            <a:avLst/>
          </a:prstGeom>
          <a:noFill/>
          <a:ln/>
        </p:spPr>
        <p:txBody>
          <a:bodyPr wrap="square" lIns="0" tIns="0" rIns="0" bIns="0" rtlCol="0" anchor="ctr"/>
          <a:lstStyle/>
          <a:p>
            <a:pPr algn="l" indent="0" marL="0">
              <a:buNone/>
            </a:pPr>
            <a:r>
              <a:rPr lang="en-US" sz="1050" dirty="0">
                <a:solidFill>
                  <a:srgbClr val="444444"/>
                </a:solidFill>
                <a:latin typeface="Calibri" pitchFamily="34" charset="0"/>
                <a:ea typeface="Calibri" pitchFamily="34" charset="-122"/>
                <a:cs typeface="Calibri" pitchFamily="34" charset="-120"/>
              </a:rPr>
              <a:t>Each verse tagged by: theme (dharma, karma, moksha, bhakti), emotion (anxiety, grief, confusion, courage), life domain (work, relationships, duty)</a:t>
            </a:r>
            <a:endParaRPr lang="en-US" sz="1050" dirty="0"/>
          </a:p>
        </p:txBody>
      </p:sp>
      <p:sp>
        <p:nvSpPr>
          <p:cNvPr id="12" name="Shape 10"/>
          <p:cNvSpPr/>
          <p:nvPr/>
        </p:nvSpPr>
        <p:spPr>
          <a:xfrm>
            <a:off x="274320" y="2880360"/>
            <a:ext cx="5303520" cy="841248"/>
          </a:xfrm>
          <a:prstGeom prst="rect">
            <a:avLst/>
          </a:prstGeom>
          <a:solidFill>
            <a:srgbClr val="FFFFFF"/>
          </a:solidFill>
          <a:ln w="12700">
            <a:solidFill>
              <a:srgbClr val="DDD0BB"/>
            </a:solidFill>
            <a:prstDash val="solid"/>
          </a:ln>
        </p:spPr>
      </p:sp>
      <p:sp>
        <p:nvSpPr>
          <p:cNvPr id="13" name="Shape 11"/>
          <p:cNvSpPr/>
          <p:nvPr/>
        </p:nvSpPr>
        <p:spPr>
          <a:xfrm>
            <a:off x="274320" y="2880360"/>
            <a:ext cx="64008" cy="841248"/>
          </a:xfrm>
          <a:prstGeom prst="rect">
            <a:avLst/>
          </a:prstGeom>
          <a:solidFill>
            <a:srgbClr val="E8871A"/>
          </a:solidFill>
          <a:ln w="12700">
            <a:solidFill>
              <a:srgbClr val="E8871A"/>
            </a:solidFill>
            <a:prstDash val="solid"/>
          </a:ln>
        </p:spPr>
      </p:sp>
      <p:sp>
        <p:nvSpPr>
          <p:cNvPr id="14" name="Text 12"/>
          <p:cNvSpPr/>
          <p:nvPr/>
        </p:nvSpPr>
        <p:spPr>
          <a:xfrm>
            <a:off x="411480" y="2926080"/>
            <a:ext cx="5029200" cy="274320"/>
          </a:xfrm>
          <a:prstGeom prst="rect">
            <a:avLst/>
          </a:prstGeom>
          <a:noFill/>
          <a:ln/>
        </p:spPr>
        <p:txBody>
          <a:bodyPr wrap="square" lIns="0" tIns="0" rIns="0" bIns="0" rtlCol="0" anchor="ctr"/>
          <a:lstStyle/>
          <a:p>
            <a:pPr algn="l" indent="0" marL="0">
              <a:buNone/>
            </a:pPr>
            <a:r>
              <a:rPr lang="en-US" sz="1200" b="1" dirty="0">
                <a:solidFill>
                  <a:srgbClr val="1A0A2E"/>
                </a:solidFill>
                <a:latin typeface="Georgia" pitchFamily="34" charset="0"/>
                <a:ea typeface="Georgia" pitchFamily="34" charset="-122"/>
                <a:cs typeface="Georgia" pitchFamily="34" charset="-120"/>
              </a:rPr>
              <a:t>🤖  Model Training</a:t>
            </a:r>
            <a:endParaRPr lang="en-US" sz="1200" dirty="0"/>
          </a:p>
        </p:txBody>
      </p:sp>
      <p:sp>
        <p:nvSpPr>
          <p:cNvPr id="15" name="Text 13"/>
          <p:cNvSpPr/>
          <p:nvPr/>
        </p:nvSpPr>
        <p:spPr>
          <a:xfrm>
            <a:off x="411480" y="3218688"/>
            <a:ext cx="5029200" cy="457200"/>
          </a:xfrm>
          <a:prstGeom prst="rect">
            <a:avLst/>
          </a:prstGeom>
          <a:noFill/>
          <a:ln/>
        </p:spPr>
        <p:txBody>
          <a:bodyPr wrap="square" lIns="0" tIns="0" rIns="0" bIns="0" rtlCol="0" anchor="ctr"/>
          <a:lstStyle/>
          <a:p>
            <a:pPr algn="l" indent="0" marL="0">
              <a:buNone/>
            </a:pPr>
            <a:r>
              <a:rPr lang="en-US" sz="1050" dirty="0">
                <a:solidFill>
                  <a:srgbClr val="444444"/>
                </a:solidFill>
                <a:latin typeface="Calibri" pitchFamily="34" charset="0"/>
                <a:ea typeface="Calibri" pitchFamily="34" charset="-122"/>
                <a:cs typeface="Calibri" pitchFamily="34" charset="-120"/>
              </a:rPr>
              <a:t>Fine-tuned LLM on Gita Q&amp;A pairs. Retrieval-Augmented Generation (RAG) for grounded, hallucination-free answers</a:t>
            </a:r>
            <a:endParaRPr lang="en-US" sz="1050" dirty="0"/>
          </a:p>
        </p:txBody>
      </p:sp>
      <p:sp>
        <p:nvSpPr>
          <p:cNvPr id="16" name="Shape 14"/>
          <p:cNvSpPr/>
          <p:nvPr/>
        </p:nvSpPr>
        <p:spPr>
          <a:xfrm>
            <a:off x="274320" y="3840480"/>
            <a:ext cx="5303520" cy="841248"/>
          </a:xfrm>
          <a:prstGeom prst="rect">
            <a:avLst/>
          </a:prstGeom>
          <a:solidFill>
            <a:srgbClr val="FFFFFF"/>
          </a:solidFill>
          <a:ln w="12700">
            <a:solidFill>
              <a:srgbClr val="DDD0BB"/>
            </a:solidFill>
            <a:prstDash val="solid"/>
          </a:ln>
        </p:spPr>
      </p:sp>
      <p:sp>
        <p:nvSpPr>
          <p:cNvPr id="17" name="Shape 15"/>
          <p:cNvSpPr/>
          <p:nvPr/>
        </p:nvSpPr>
        <p:spPr>
          <a:xfrm>
            <a:off x="274320" y="3840480"/>
            <a:ext cx="64008" cy="841248"/>
          </a:xfrm>
          <a:prstGeom prst="rect">
            <a:avLst/>
          </a:prstGeom>
          <a:solidFill>
            <a:srgbClr val="E8871A"/>
          </a:solidFill>
          <a:ln w="12700">
            <a:solidFill>
              <a:srgbClr val="E8871A"/>
            </a:solidFill>
            <a:prstDash val="solid"/>
          </a:ln>
        </p:spPr>
      </p:sp>
      <p:sp>
        <p:nvSpPr>
          <p:cNvPr id="18" name="Text 16"/>
          <p:cNvSpPr/>
          <p:nvPr/>
        </p:nvSpPr>
        <p:spPr>
          <a:xfrm>
            <a:off x="411480" y="3886200"/>
            <a:ext cx="5029200" cy="274320"/>
          </a:xfrm>
          <a:prstGeom prst="rect">
            <a:avLst/>
          </a:prstGeom>
          <a:noFill/>
          <a:ln/>
        </p:spPr>
        <p:txBody>
          <a:bodyPr wrap="square" lIns="0" tIns="0" rIns="0" bIns="0" rtlCol="0" anchor="ctr"/>
          <a:lstStyle/>
          <a:p>
            <a:pPr algn="l" indent="0" marL="0">
              <a:buNone/>
            </a:pPr>
            <a:r>
              <a:rPr lang="en-US" sz="1200" b="1" dirty="0">
                <a:solidFill>
                  <a:srgbClr val="1A0A2E"/>
                </a:solidFill>
                <a:latin typeface="Georgia" pitchFamily="34" charset="0"/>
                <a:ea typeface="Georgia" pitchFamily="34" charset="-122"/>
                <a:cs typeface="Georgia" pitchFamily="34" charset="-120"/>
              </a:rPr>
              <a:t>✅  Validation</a:t>
            </a:r>
            <a:endParaRPr lang="en-US" sz="1200" dirty="0"/>
          </a:p>
        </p:txBody>
      </p:sp>
      <p:sp>
        <p:nvSpPr>
          <p:cNvPr id="19" name="Text 17"/>
          <p:cNvSpPr/>
          <p:nvPr/>
        </p:nvSpPr>
        <p:spPr>
          <a:xfrm>
            <a:off x="411480" y="4178808"/>
            <a:ext cx="5029200" cy="457200"/>
          </a:xfrm>
          <a:prstGeom prst="rect">
            <a:avLst/>
          </a:prstGeom>
          <a:noFill/>
          <a:ln/>
        </p:spPr>
        <p:txBody>
          <a:bodyPr wrap="square" lIns="0" tIns="0" rIns="0" bIns="0" rtlCol="0" anchor="ctr"/>
          <a:lstStyle/>
          <a:p>
            <a:pPr algn="l" indent="0" marL="0">
              <a:buNone/>
            </a:pPr>
            <a:r>
              <a:rPr lang="en-US" sz="1050" dirty="0">
                <a:solidFill>
                  <a:srgbClr val="444444"/>
                </a:solidFill>
                <a:latin typeface="Calibri" pitchFamily="34" charset="0"/>
                <a:ea typeface="Calibri" pitchFamily="34" charset="-122"/>
                <a:cs typeface="Calibri" pitchFamily="34" charset="-120"/>
              </a:rPr>
              <a:t>Responses validated by Sanskrit scholars and Vedanta experts to ensure theological accuracy</a:t>
            </a:r>
            <a:endParaRPr lang="en-US" sz="1050" dirty="0"/>
          </a:p>
        </p:txBody>
      </p:sp>
      <p:sp>
        <p:nvSpPr>
          <p:cNvPr id="20" name="Shape 18"/>
          <p:cNvSpPr/>
          <p:nvPr/>
        </p:nvSpPr>
        <p:spPr>
          <a:xfrm>
            <a:off x="6217920" y="1097280"/>
            <a:ext cx="2560320" cy="2560320"/>
          </a:xfrm>
          <a:prstGeom prst="ellipse">
            <a:avLst/>
          </a:prstGeom>
          <a:solidFill>
            <a:srgbClr val="E8871A"/>
          </a:solidFill>
          <a:ln w="12700">
            <a:solidFill>
              <a:srgbClr val="E8871A"/>
            </a:solidFill>
            <a:prstDash val="solid"/>
          </a:ln>
        </p:spPr>
      </p:sp>
      <p:sp>
        <p:nvSpPr>
          <p:cNvPr id="21" name="Shape 19"/>
          <p:cNvSpPr/>
          <p:nvPr/>
        </p:nvSpPr>
        <p:spPr>
          <a:xfrm>
            <a:off x="6629400" y="1508760"/>
            <a:ext cx="1737360" cy="1737360"/>
          </a:xfrm>
          <a:prstGeom prst="ellipse">
            <a:avLst/>
          </a:prstGeom>
          <a:solidFill>
            <a:srgbClr val="F5F0E8"/>
          </a:solidFill>
          <a:ln w="12700">
            <a:solidFill>
              <a:srgbClr val="F5F0E8"/>
            </a:solidFill>
            <a:prstDash val="solid"/>
          </a:ln>
        </p:spPr>
      </p:sp>
      <p:sp>
        <p:nvSpPr>
          <p:cNvPr id="22" name="Text 20"/>
          <p:cNvSpPr/>
          <p:nvPr/>
        </p:nvSpPr>
        <p:spPr>
          <a:xfrm>
            <a:off x="6492240" y="1828800"/>
            <a:ext cx="1920240" cy="1097280"/>
          </a:xfrm>
          <a:prstGeom prst="rect">
            <a:avLst/>
          </a:prstGeom>
          <a:noFill/>
          <a:ln/>
        </p:spPr>
        <p:txBody>
          <a:bodyPr wrap="square" lIns="0" tIns="0" rIns="0" bIns="0" rtlCol="0" anchor="ctr"/>
          <a:lstStyle/>
          <a:p>
            <a:pPr algn="ctr" indent="0" marL="0">
              <a:buNone/>
            </a:pPr>
            <a:r>
              <a:rPr lang="en-US" sz="1300" b="1" dirty="0">
                <a:solidFill>
                  <a:srgbClr val="1A0A2E"/>
                </a:solidFill>
                <a:latin typeface="Georgia" pitchFamily="34" charset="0"/>
                <a:ea typeface="Georgia" pitchFamily="34" charset="-122"/>
                <a:cs typeface="Georgia" pitchFamily="34" charset="-120"/>
              </a:rPr>
              <a:t>18</a:t>
            </a:r>
            <a:endParaRPr lang="en-US" sz="1300" dirty="0"/>
          </a:p>
          <a:p>
            <a:pPr algn="ctr" indent="0" marL="0">
              <a:buNone/>
            </a:pPr>
            <a:r>
              <a:rPr lang="en-US" sz="1300" b="1" dirty="0">
                <a:solidFill>
                  <a:srgbClr val="1A0A2E"/>
                </a:solidFill>
                <a:latin typeface="Georgia" pitchFamily="34" charset="0"/>
                <a:ea typeface="Georgia" pitchFamily="34" charset="-122"/>
                <a:cs typeface="Georgia" pitchFamily="34" charset="-120"/>
              </a:rPr>
              <a:t>Chapters</a:t>
            </a:r>
            <a:endParaRPr lang="en-US" sz="1300" dirty="0"/>
          </a:p>
          <a:p>
            <a:pPr algn="ctr" indent="0" marL="0">
              <a:buNone/>
            </a:pPr>
            <a:r>
              <a:rPr lang="en-US" sz="1300" b="1" dirty="0">
                <a:solidFill>
                  <a:srgbClr val="1A0A2E"/>
                </a:solidFill>
                <a:latin typeface="Georgia" pitchFamily="34" charset="0"/>
                <a:ea typeface="Georgia" pitchFamily="34" charset="-122"/>
                <a:cs typeface="Georgia" pitchFamily="34" charset="-120"/>
              </a:rPr>
              <a:t>Covered</a:t>
            </a:r>
            <a:endParaRPr lang="en-US" sz="1300" dirty="0"/>
          </a:p>
        </p:txBody>
      </p:sp>
      <p:sp>
        <p:nvSpPr>
          <p:cNvPr id="23" name="Shape 21"/>
          <p:cNvSpPr/>
          <p:nvPr/>
        </p:nvSpPr>
        <p:spPr>
          <a:xfrm>
            <a:off x="5943600" y="3931920"/>
            <a:ext cx="2926080" cy="777240"/>
          </a:xfrm>
          <a:prstGeom prst="rect">
            <a:avLst/>
          </a:prstGeom>
          <a:solidFill>
            <a:srgbClr val="1A0A2E"/>
          </a:solidFill>
          <a:ln w="12700">
            <a:solidFill>
              <a:srgbClr val="1A0A2E"/>
            </a:solidFill>
            <a:prstDash val="solid"/>
          </a:ln>
        </p:spPr>
      </p:sp>
      <p:sp>
        <p:nvSpPr>
          <p:cNvPr id="24" name="Text 22"/>
          <p:cNvSpPr/>
          <p:nvPr/>
        </p:nvSpPr>
        <p:spPr>
          <a:xfrm>
            <a:off x="5943600" y="3968496"/>
            <a:ext cx="2926080" cy="274320"/>
          </a:xfrm>
          <a:prstGeom prst="rect">
            <a:avLst/>
          </a:prstGeom>
          <a:noFill/>
          <a:ln/>
        </p:spPr>
        <p:txBody>
          <a:bodyPr wrap="square" lIns="0" tIns="0" rIns="0" bIns="0" rtlCol="0" anchor="ctr"/>
          <a:lstStyle/>
          <a:p>
            <a:pPr algn="ctr" indent="0" marL="0">
              <a:buNone/>
            </a:pPr>
            <a:r>
              <a:rPr lang="en-US" sz="1000" dirty="0">
                <a:solidFill>
                  <a:srgbClr val="C4A96B"/>
                </a:solidFill>
                <a:latin typeface="Calibri" pitchFamily="34" charset="0"/>
                <a:ea typeface="Calibri" pitchFamily="34" charset="-122"/>
                <a:cs typeface="Calibri" pitchFamily="34" charset="-120"/>
              </a:rPr>
              <a:t>Accuracy on test Q&amp;A</a:t>
            </a:r>
            <a:endParaRPr lang="en-US" sz="1000" dirty="0"/>
          </a:p>
        </p:txBody>
      </p:sp>
      <p:sp>
        <p:nvSpPr>
          <p:cNvPr id="25" name="Text 23"/>
          <p:cNvSpPr/>
          <p:nvPr/>
        </p:nvSpPr>
        <p:spPr>
          <a:xfrm>
            <a:off x="5943600" y="4224528"/>
            <a:ext cx="2926080" cy="384048"/>
          </a:xfrm>
          <a:prstGeom prst="rect">
            <a:avLst/>
          </a:prstGeom>
          <a:noFill/>
          <a:ln/>
        </p:spPr>
        <p:txBody>
          <a:bodyPr wrap="square" lIns="0" tIns="0" rIns="0" bIns="0" rtlCol="0" anchor="ctr"/>
          <a:lstStyle/>
          <a:p>
            <a:pPr algn="ctr" indent="0" marL="0">
              <a:buNone/>
            </a:pPr>
            <a:r>
              <a:rPr lang="en-US" sz="2200" b="1" dirty="0">
                <a:solidFill>
                  <a:srgbClr val="F5C842"/>
                </a:solidFill>
                <a:latin typeface="Georgia" pitchFamily="34" charset="0"/>
                <a:ea typeface="Georgia" pitchFamily="34" charset="-122"/>
                <a:cs typeface="Georgia" pitchFamily="34" charset="-120"/>
              </a:rPr>
              <a:t>91.4%</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0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871A"/>
          </a:solidFill>
          <a:ln w="12700">
            <a:solidFill>
              <a:srgbClr val="E8871A"/>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algn="l" indent="0" marL="0">
              <a:buNone/>
            </a:pPr>
            <a:r>
              <a:rPr lang="en-US" sz="3000" b="1" dirty="0">
                <a:solidFill>
                  <a:srgbClr val="F5C842"/>
                </a:solidFill>
                <a:latin typeface="Georgia" pitchFamily="34" charset="0"/>
                <a:ea typeface="Georgia" pitchFamily="34" charset="-122"/>
                <a:cs typeface="Georgia" pitchFamily="34" charset="-120"/>
              </a:rPr>
              <a:t>Applications &amp; Impact</a:t>
            </a:r>
            <a:endParaRPr lang="en-US" sz="3000" dirty="0"/>
          </a:p>
        </p:txBody>
      </p:sp>
      <p:sp>
        <p:nvSpPr>
          <p:cNvPr id="4" name="Shape 2"/>
          <p:cNvSpPr/>
          <p:nvPr/>
        </p:nvSpPr>
        <p:spPr>
          <a:xfrm>
            <a:off x="228600" y="1005840"/>
            <a:ext cx="2743200" cy="1664208"/>
          </a:xfrm>
          <a:prstGeom prst="rect">
            <a:avLst/>
          </a:prstGeom>
          <a:solidFill>
            <a:srgbClr val="261550"/>
          </a:solidFill>
          <a:ln w="12700">
            <a:solidFill>
              <a:srgbClr val="E8871A"/>
            </a:solidFill>
            <a:prstDash val="solid"/>
          </a:ln>
        </p:spPr>
      </p:sp>
      <p:sp>
        <p:nvSpPr>
          <p:cNvPr id="5" name="Text 3"/>
          <p:cNvSpPr/>
          <p:nvPr/>
        </p:nvSpPr>
        <p:spPr>
          <a:xfrm>
            <a:off x="228600" y="109728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228600" y="1600200"/>
            <a:ext cx="2743200" cy="347472"/>
          </a:xfrm>
          <a:prstGeom prst="rect">
            <a:avLst/>
          </a:prstGeom>
          <a:noFill/>
          <a:ln/>
        </p:spPr>
        <p:txBody>
          <a:bodyPr wrap="square" lIns="0" tIns="0" rIns="0" bIns="0" rtlCol="0" anchor="ctr"/>
          <a:lstStyle/>
          <a:p>
            <a:pPr algn="ctr" indent="0" marL="0">
              <a:buNone/>
            </a:pPr>
            <a:r>
              <a:rPr lang="en-US" sz="1300" b="1" dirty="0">
                <a:solidFill>
                  <a:srgbClr val="F5C842"/>
                </a:solidFill>
                <a:latin typeface="Georgia" pitchFamily="34" charset="0"/>
                <a:ea typeface="Georgia" pitchFamily="34" charset="-122"/>
                <a:cs typeface="Georgia" pitchFamily="34" charset="-120"/>
              </a:rPr>
              <a:t>Mental Wellness</a:t>
            </a:r>
            <a:endParaRPr lang="en-US" sz="1300" dirty="0"/>
          </a:p>
        </p:txBody>
      </p:sp>
      <p:sp>
        <p:nvSpPr>
          <p:cNvPr id="7" name="Text 5"/>
          <p:cNvSpPr/>
          <p:nvPr/>
        </p:nvSpPr>
        <p:spPr>
          <a:xfrm>
            <a:off x="320040" y="1947672"/>
            <a:ext cx="2560320" cy="594360"/>
          </a:xfrm>
          <a:prstGeom prst="rect">
            <a:avLst/>
          </a:prstGeom>
          <a:noFill/>
          <a:ln/>
        </p:spPr>
        <p:txBody>
          <a:bodyPr wrap="square" lIns="0" tIns="0" rIns="0" bIns="0" rtlCol="0" anchor="ctr"/>
          <a:lstStyle/>
          <a:p>
            <a:pPr algn="ctr" indent="0" marL="0">
              <a:buNone/>
            </a:pPr>
            <a:r>
              <a:rPr lang="en-US" sz="1050" dirty="0">
                <a:solidFill>
                  <a:srgbClr val="FFF8E7"/>
                </a:solidFill>
                <a:latin typeface="Calibri" pitchFamily="34" charset="0"/>
                <a:ea typeface="Calibri" pitchFamily="34" charset="-122"/>
                <a:cs typeface="Calibri" pitchFamily="34" charset="-120"/>
              </a:rPr>
              <a:t>Guidance for stress, anxiety &amp; existential questions</a:t>
            </a:r>
            <a:endParaRPr lang="en-US" sz="1050" dirty="0"/>
          </a:p>
        </p:txBody>
      </p:sp>
      <p:sp>
        <p:nvSpPr>
          <p:cNvPr id="8" name="Shape 6"/>
          <p:cNvSpPr/>
          <p:nvPr/>
        </p:nvSpPr>
        <p:spPr>
          <a:xfrm>
            <a:off x="3200400" y="1005840"/>
            <a:ext cx="2743200" cy="1664208"/>
          </a:xfrm>
          <a:prstGeom prst="rect">
            <a:avLst/>
          </a:prstGeom>
          <a:solidFill>
            <a:srgbClr val="261550"/>
          </a:solidFill>
          <a:ln w="12700">
            <a:solidFill>
              <a:srgbClr val="E8871A"/>
            </a:solidFill>
            <a:prstDash val="solid"/>
          </a:ln>
        </p:spPr>
      </p:sp>
      <p:sp>
        <p:nvSpPr>
          <p:cNvPr id="9" name="Text 7"/>
          <p:cNvSpPr/>
          <p:nvPr/>
        </p:nvSpPr>
        <p:spPr>
          <a:xfrm>
            <a:off x="3200400" y="109728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3200400" y="1600200"/>
            <a:ext cx="2743200" cy="347472"/>
          </a:xfrm>
          <a:prstGeom prst="rect">
            <a:avLst/>
          </a:prstGeom>
          <a:noFill/>
          <a:ln/>
        </p:spPr>
        <p:txBody>
          <a:bodyPr wrap="square" lIns="0" tIns="0" rIns="0" bIns="0" rtlCol="0" anchor="ctr"/>
          <a:lstStyle/>
          <a:p>
            <a:pPr algn="ctr" indent="0" marL="0">
              <a:buNone/>
            </a:pPr>
            <a:r>
              <a:rPr lang="en-US" sz="1300" b="1" dirty="0">
                <a:solidFill>
                  <a:srgbClr val="F5C842"/>
                </a:solidFill>
                <a:latin typeface="Georgia" pitchFamily="34" charset="0"/>
                <a:ea typeface="Georgia" pitchFamily="34" charset="-122"/>
                <a:cs typeface="Georgia" pitchFamily="34" charset="-120"/>
              </a:rPr>
              <a:t>Education</a:t>
            </a:r>
            <a:endParaRPr lang="en-US" sz="1300" dirty="0"/>
          </a:p>
        </p:txBody>
      </p:sp>
      <p:sp>
        <p:nvSpPr>
          <p:cNvPr id="11" name="Text 9"/>
          <p:cNvSpPr/>
          <p:nvPr/>
        </p:nvSpPr>
        <p:spPr>
          <a:xfrm>
            <a:off x="3291840" y="1947672"/>
            <a:ext cx="2560320" cy="594360"/>
          </a:xfrm>
          <a:prstGeom prst="rect">
            <a:avLst/>
          </a:prstGeom>
          <a:noFill/>
          <a:ln/>
        </p:spPr>
        <p:txBody>
          <a:bodyPr wrap="square" lIns="0" tIns="0" rIns="0" bIns="0" rtlCol="0" anchor="ctr"/>
          <a:lstStyle/>
          <a:p>
            <a:pPr algn="ctr" indent="0" marL="0">
              <a:buNone/>
            </a:pPr>
            <a:r>
              <a:rPr lang="en-US" sz="1050" dirty="0">
                <a:solidFill>
                  <a:srgbClr val="FFF8E7"/>
                </a:solidFill>
                <a:latin typeface="Calibri" pitchFamily="34" charset="0"/>
                <a:ea typeface="Calibri" pitchFamily="34" charset="-122"/>
                <a:cs typeface="Calibri" pitchFamily="34" charset="-120"/>
              </a:rPr>
              <a:t>Curriculum tool for philosophy &amp; Indian culture studies</a:t>
            </a:r>
            <a:endParaRPr lang="en-US" sz="1050" dirty="0"/>
          </a:p>
        </p:txBody>
      </p:sp>
      <p:sp>
        <p:nvSpPr>
          <p:cNvPr id="12" name="Shape 10"/>
          <p:cNvSpPr/>
          <p:nvPr/>
        </p:nvSpPr>
        <p:spPr>
          <a:xfrm>
            <a:off x="6172200" y="1005840"/>
            <a:ext cx="2743200" cy="1664208"/>
          </a:xfrm>
          <a:prstGeom prst="rect">
            <a:avLst/>
          </a:prstGeom>
          <a:solidFill>
            <a:srgbClr val="261550"/>
          </a:solidFill>
          <a:ln w="12700">
            <a:solidFill>
              <a:srgbClr val="E8871A"/>
            </a:solidFill>
            <a:prstDash val="solid"/>
          </a:ln>
        </p:spPr>
      </p:sp>
      <p:sp>
        <p:nvSpPr>
          <p:cNvPr id="13" name="Text 11"/>
          <p:cNvSpPr/>
          <p:nvPr/>
        </p:nvSpPr>
        <p:spPr>
          <a:xfrm>
            <a:off x="6172200" y="109728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6172200" y="1600200"/>
            <a:ext cx="2743200" cy="347472"/>
          </a:xfrm>
          <a:prstGeom prst="rect">
            <a:avLst/>
          </a:prstGeom>
          <a:noFill/>
          <a:ln/>
        </p:spPr>
        <p:txBody>
          <a:bodyPr wrap="square" lIns="0" tIns="0" rIns="0" bIns="0" rtlCol="0" anchor="ctr"/>
          <a:lstStyle/>
          <a:p>
            <a:pPr algn="ctr" indent="0" marL="0">
              <a:buNone/>
            </a:pPr>
            <a:r>
              <a:rPr lang="en-US" sz="1300" b="1" dirty="0">
                <a:solidFill>
                  <a:srgbClr val="F5C842"/>
                </a:solidFill>
                <a:latin typeface="Georgia" pitchFamily="34" charset="0"/>
                <a:ea typeface="Georgia" pitchFamily="34" charset="-122"/>
                <a:cs typeface="Georgia" pitchFamily="34" charset="-120"/>
              </a:rPr>
              <a:t>Leadership Training</a:t>
            </a:r>
            <a:endParaRPr lang="en-US" sz="1300" dirty="0"/>
          </a:p>
        </p:txBody>
      </p:sp>
      <p:sp>
        <p:nvSpPr>
          <p:cNvPr id="15" name="Text 13"/>
          <p:cNvSpPr/>
          <p:nvPr/>
        </p:nvSpPr>
        <p:spPr>
          <a:xfrm>
            <a:off x="6263640" y="1947672"/>
            <a:ext cx="2560320" cy="594360"/>
          </a:xfrm>
          <a:prstGeom prst="rect">
            <a:avLst/>
          </a:prstGeom>
          <a:noFill/>
          <a:ln/>
        </p:spPr>
        <p:txBody>
          <a:bodyPr wrap="square" lIns="0" tIns="0" rIns="0" bIns="0" rtlCol="0" anchor="ctr"/>
          <a:lstStyle/>
          <a:p>
            <a:pPr algn="ctr" indent="0" marL="0">
              <a:buNone/>
            </a:pPr>
            <a:r>
              <a:rPr lang="en-US" sz="1050" dirty="0">
                <a:solidFill>
                  <a:srgbClr val="FFF8E7"/>
                </a:solidFill>
                <a:latin typeface="Calibri" pitchFamily="34" charset="0"/>
                <a:ea typeface="Calibri" pitchFamily="34" charset="-122"/>
                <a:cs typeface="Calibri" pitchFamily="34" charset="-120"/>
              </a:rPr>
              <a:t>Corporate ethics &amp; decision-making via Gita principles</a:t>
            </a:r>
            <a:endParaRPr lang="en-US" sz="1050" dirty="0"/>
          </a:p>
        </p:txBody>
      </p:sp>
      <p:sp>
        <p:nvSpPr>
          <p:cNvPr id="16" name="Shape 14"/>
          <p:cNvSpPr/>
          <p:nvPr/>
        </p:nvSpPr>
        <p:spPr>
          <a:xfrm>
            <a:off x="228600" y="2880360"/>
            <a:ext cx="2743200" cy="1664208"/>
          </a:xfrm>
          <a:prstGeom prst="rect">
            <a:avLst/>
          </a:prstGeom>
          <a:solidFill>
            <a:srgbClr val="261550"/>
          </a:solidFill>
          <a:ln w="12700">
            <a:solidFill>
              <a:srgbClr val="E8871A"/>
            </a:solidFill>
            <a:prstDash val="solid"/>
          </a:ln>
        </p:spPr>
      </p:sp>
      <p:sp>
        <p:nvSpPr>
          <p:cNvPr id="17" name="Text 15"/>
          <p:cNvSpPr/>
          <p:nvPr/>
        </p:nvSpPr>
        <p:spPr>
          <a:xfrm>
            <a:off x="228600" y="297180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228600" y="3474720"/>
            <a:ext cx="2743200" cy="347472"/>
          </a:xfrm>
          <a:prstGeom prst="rect">
            <a:avLst/>
          </a:prstGeom>
          <a:noFill/>
          <a:ln/>
        </p:spPr>
        <p:txBody>
          <a:bodyPr wrap="square" lIns="0" tIns="0" rIns="0" bIns="0" rtlCol="0" anchor="ctr"/>
          <a:lstStyle/>
          <a:p>
            <a:pPr algn="ctr" indent="0" marL="0">
              <a:buNone/>
            </a:pPr>
            <a:r>
              <a:rPr lang="en-US" sz="1300" b="1" dirty="0">
                <a:solidFill>
                  <a:srgbClr val="F5C842"/>
                </a:solidFill>
                <a:latin typeface="Georgia" pitchFamily="34" charset="0"/>
                <a:ea typeface="Georgia" pitchFamily="34" charset="-122"/>
                <a:cs typeface="Georgia" pitchFamily="34" charset="-120"/>
              </a:rPr>
              <a:t>Cultural Preservation</a:t>
            </a:r>
            <a:endParaRPr lang="en-US" sz="1300" dirty="0"/>
          </a:p>
        </p:txBody>
      </p:sp>
      <p:sp>
        <p:nvSpPr>
          <p:cNvPr id="19" name="Text 17"/>
          <p:cNvSpPr/>
          <p:nvPr/>
        </p:nvSpPr>
        <p:spPr>
          <a:xfrm>
            <a:off x="320040" y="3822192"/>
            <a:ext cx="2560320" cy="594360"/>
          </a:xfrm>
          <a:prstGeom prst="rect">
            <a:avLst/>
          </a:prstGeom>
          <a:noFill/>
          <a:ln/>
        </p:spPr>
        <p:txBody>
          <a:bodyPr wrap="square" lIns="0" tIns="0" rIns="0" bIns="0" rtlCol="0" anchor="ctr"/>
          <a:lstStyle/>
          <a:p>
            <a:pPr algn="ctr" indent="0" marL="0">
              <a:buNone/>
            </a:pPr>
            <a:r>
              <a:rPr lang="en-US" sz="1050" dirty="0">
                <a:solidFill>
                  <a:srgbClr val="FFF8E7"/>
                </a:solidFill>
                <a:latin typeface="Calibri" pitchFamily="34" charset="0"/>
                <a:ea typeface="Calibri" pitchFamily="34" charset="-122"/>
                <a:cs typeface="Calibri" pitchFamily="34" charset="-120"/>
              </a:rPr>
              <a:t>Digital access to India's ancient wisdom for global reach</a:t>
            </a:r>
            <a:endParaRPr lang="en-US" sz="1050" dirty="0"/>
          </a:p>
        </p:txBody>
      </p:sp>
      <p:sp>
        <p:nvSpPr>
          <p:cNvPr id="20" name="Shape 18"/>
          <p:cNvSpPr/>
          <p:nvPr/>
        </p:nvSpPr>
        <p:spPr>
          <a:xfrm>
            <a:off x="3200400" y="2880360"/>
            <a:ext cx="2743200" cy="1664208"/>
          </a:xfrm>
          <a:prstGeom prst="rect">
            <a:avLst/>
          </a:prstGeom>
          <a:solidFill>
            <a:srgbClr val="261550"/>
          </a:solidFill>
          <a:ln w="12700">
            <a:solidFill>
              <a:srgbClr val="E8871A"/>
            </a:solidFill>
            <a:prstDash val="solid"/>
          </a:ln>
        </p:spPr>
      </p:sp>
      <p:sp>
        <p:nvSpPr>
          <p:cNvPr id="21" name="Text 19"/>
          <p:cNvSpPr/>
          <p:nvPr/>
        </p:nvSpPr>
        <p:spPr>
          <a:xfrm>
            <a:off x="3200400" y="297180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20"/>
          <p:cNvSpPr/>
          <p:nvPr/>
        </p:nvSpPr>
        <p:spPr>
          <a:xfrm>
            <a:off x="3200400" y="3474720"/>
            <a:ext cx="2743200" cy="347472"/>
          </a:xfrm>
          <a:prstGeom prst="rect">
            <a:avLst/>
          </a:prstGeom>
          <a:noFill/>
          <a:ln/>
        </p:spPr>
        <p:txBody>
          <a:bodyPr wrap="square" lIns="0" tIns="0" rIns="0" bIns="0" rtlCol="0" anchor="ctr"/>
          <a:lstStyle/>
          <a:p>
            <a:pPr algn="ctr" indent="0" marL="0">
              <a:buNone/>
            </a:pPr>
            <a:r>
              <a:rPr lang="en-US" sz="1300" b="1" dirty="0">
                <a:solidFill>
                  <a:srgbClr val="F5C842"/>
                </a:solidFill>
                <a:latin typeface="Georgia" pitchFamily="34" charset="0"/>
                <a:ea typeface="Georgia" pitchFamily="34" charset="-122"/>
                <a:cs typeface="Georgia" pitchFamily="34" charset="-120"/>
              </a:rPr>
              <a:t>Spiritual Growth</a:t>
            </a:r>
            <a:endParaRPr lang="en-US" sz="1300" dirty="0"/>
          </a:p>
        </p:txBody>
      </p:sp>
      <p:sp>
        <p:nvSpPr>
          <p:cNvPr id="23" name="Text 21"/>
          <p:cNvSpPr/>
          <p:nvPr/>
        </p:nvSpPr>
        <p:spPr>
          <a:xfrm>
            <a:off x="3291840" y="3822192"/>
            <a:ext cx="2560320" cy="594360"/>
          </a:xfrm>
          <a:prstGeom prst="rect">
            <a:avLst/>
          </a:prstGeom>
          <a:noFill/>
          <a:ln/>
        </p:spPr>
        <p:txBody>
          <a:bodyPr wrap="square" lIns="0" tIns="0" rIns="0" bIns="0" rtlCol="0" anchor="ctr"/>
          <a:lstStyle/>
          <a:p>
            <a:pPr algn="ctr" indent="0" marL="0">
              <a:buNone/>
            </a:pPr>
            <a:r>
              <a:rPr lang="en-US" sz="1050" dirty="0">
                <a:solidFill>
                  <a:srgbClr val="FFF8E7"/>
                </a:solidFill>
                <a:latin typeface="Calibri" pitchFamily="34" charset="0"/>
                <a:ea typeface="Calibri" pitchFamily="34" charset="-122"/>
                <a:cs typeface="Calibri" pitchFamily="34" charset="-120"/>
              </a:rPr>
              <a:t>Personalized devotional guidance for spiritual seekers</a:t>
            </a:r>
            <a:endParaRPr lang="en-US" sz="1050" dirty="0"/>
          </a:p>
        </p:txBody>
      </p:sp>
      <p:sp>
        <p:nvSpPr>
          <p:cNvPr id="24" name="Shape 22"/>
          <p:cNvSpPr/>
          <p:nvPr/>
        </p:nvSpPr>
        <p:spPr>
          <a:xfrm>
            <a:off x="6172200" y="2880360"/>
            <a:ext cx="2743200" cy="1664208"/>
          </a:xfrm>
          <a:prstGeom prst="rect">
            <a:avLst/>
          </a:prstGeom>
          <a:solidFill>
            <a:srgbClr val="261550"/>
          </a:solidFill>
          <a:ln w="12700">
            <a:solidFill>
              <a:srgbClr val="E8871A"/>
            </a:solidFill>
            <a:prstDash val="solid"/>
          </a:ln>
        </p:spPr>
      </p:sp>
      <p:sp>
        <p:nvSpPr>
          <p:cNvPr id="25" name="Text 23"/>
          <p:cNvSpPr/>
          <p:nvPr/>
        </p:nvSpPr>
        <p:spPr>
          <a:xfrm>
            <a:off x="6172200" y="297180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6" name="Text 24"/>
          <p:cNvSpPr/>
          <p:nvPr/>
        </p:nvSpPr>
        <p:spPr>
          <a:xfrm>
            <a:off x="6172200" y="3474720"/>
            <a:ext cx="2743200" cy="347472"/>
          </a:xfrm>
          <a:prstGeom prst="rect">
            <a:avLst/>
          </a:prstGeom>
          <a:noFill/>
          <a:ln/>
        </p:spPr>
        <p:txBody>
          <a:bodyPr wrap="square" lIns="0" tIns="0" rIns="0" bIns="0" rtlCol="0" anchor="ctr"/>
          <a:lstStyle/>
          <a:p>
            <a:pPr algn="ctr" indent="0" marL="0">
              <a:buNone/>
            </a:pPr>
            <a:r>
              <a:rPr lang="en-US" sz="1300" b="1" dirty="0">
                <a:solidFill>
                  <a:srgbClr val="F5C842"/>
                </a:solidFill>
                <a:latin typeface="Georgia" pitchFamily="34" charset="0"/>
                <a:ea typeface="Georgia" pitchFamily="34" charset="-122"/>
                <a:cs typeface="Georgia" pitchFamily="34" charset="-120"/>
              </a:rPr>
              <a:t>Mobile &amp; Web App</a:t>
            </a:r>
            <a:endParaRPr lang="en-US" sz="1300" dirty="0"/>
          </a:p>
        </p:txBody>
      </p:sp>
      <p:sp>
        <p:nvSpPr>
          <p:cNvPr id="27" name="Text 25"/>
          <p:cNvSpPr/>
          <p:nvPr/>
        </p:nvSpPr>
        <p:spPr>
          <a:xfrm>
            <a:off x="6263640" y="3822192"/>
            <a:ext cx="2560320" cy="594360"/>
          </a:xfrm>
          <a:prstGeom prst="rect">
            <a:avLst/>
          </a:prstGeom>
          <a:noFill/>
          <a:ln/>
        </p:spPr>
        <p:txBody>
          <a:bodyPr wrap="square" lIns="0" tIns="0" rIns="0" bIns="0" rtlCol="0" anchor="ctr"/>
          <a:lstStyle/>
          <a:p>
            <a:pPr algn="ctr" indent="0" marL="0">
              <a:buNone/>
            </a:pPr>
            <a:r>
              <a:rPr lang="en-US" sz="1050" dirty="0">
                <a:solidFill>
                  <a:srgbClr val="FFF8E7"/>
                </a:solidFill>
                <a:latin typeface="Calibri" pitchFamily="34" charset="0"/>
                <a:ea typeface="Calibri" pitchFamily="34" charset="-122"/>
                <a:cs typeface="Calibri" pitchFamily="34" charset="-120"/>
              </a:rPr>
              <a:t>Accessible 24/7 via smartphone, tablet, or browser</a:t>
            </a:r>
            <a:endParaRPr lang="en-US" sz="1050" dirty="0"/>
          </a:p>
        </p:txBody>
      </p:sp>
      <p:sp>
        <p:nvSpPr>
          <p:cNvPr id="28" name="Shape 26"/>
          <p:cNvSpPr/>
          <p:nvPr/>
        </p:nvSpPr>
        <p:spPr>
          <a:xfrm>
            <a:off x="0" y="4864608"/>
            <a:ext cx="9144000" cy="54864"/>
          </a:xfrm>
          <a:prstGeom prst="rect">
            <a:avLst/>
          </a:prstGeom>
          <a:solidFill>
            <a:srgbClr val="E8871A"/>
          </a:solidFill>
          <a:ln w="12700">
            <a:solidFill>
              <a:srgbClr val="E8871A"/>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0A2E"/>
        </a:solidFill>
      </p:bgPr>
    </p:bg>
    <p:spTree>
      <p:nvGrpSpPr>
        <p:cNvPr id="1" name=""/>
        <p:cNvGrpSpPr/>
        <p:nvPr/>
      </p:nvGrpSpPr>
      <p:grpSpPr>
        <a:xfrm>
          <a:off x="0" y="0"/>
          <a:ext cx="0" cy="0"/>
          <a:chOff x="0" y="0"/>
          <a:chExt cx="0" cy="0"/>
        </a:xfrm>
      </p:grpSpPr>
      <p:sp>
        <p:nvSpPr>
          <p:cNvPr id="2" name="Shape 0"/>
          <p:cNvSpPr/>
          <p:nvPr/>
        </p:nvSpPr>
        <p:spPr>
          <a:xfrm>
            <a:off x="-914400" y="-914400"/>
            <a:ext cx="5486400" cy="5486400"/>
          </a:xfrm>
          <a:prstGeom prst="ellipse">
            <a:avLst/>
          </a:prstGeom>
          <a:solidFill>
            <a:srgbClr val="2D1B69">
              <a:alpha val="30000"/>
            </a:srgbClr>
          </a:solidFill>
          <a:ln w="12700">
            <a:solidFill>
              <a:srgbClr val="2D1B69"/>
            </a:solidFill>
            <a:prstDash val="solid"/>
          </a:ln>
        </p:spPr>
      </p:sp>
      <p:sp>
        <p:nvSpPr>
          <p:cNvPr id="3" name="Shape 1"/>
          <p:cNvSpPr/>
          <p:nvPr/>
        </p:nvSpPr>
        <p:spPr>
          <a:xfrm>
            <a:off x="5943600" y="1828800"/>
            <a:ext cx="4572000" cy="4572000"/>
          </a:xfrm>
          <a:prstGeom prst="ellipse">
            <a:avLst/>
          </a:prstGeom>
          <a:solidFill>
            <a:srgbClr val="E8871A">
              <a:alpha val="12000"/>
            </a:srgbClr>
          </a:solidFill>
          <a:ln w="12700">
            <a:solidFill>
              <a:srgbClr val="E8871A"/>
            </a:solidFill>
            <a:prstDash val="solid"/>
          </a:ln>
        </p:spPr>
      </p:sp>
      <p:sp>
        <p:nvSpPr>
          <p:cNvPr id="4" name="Text 2"/>
          <p:cNvSpPr/>
          <p:nvPr/>
        </p:nvSpPr>
        <p:spPr>
          <a:xfrm>
            <a:off x="3657600" y="91440"/>
            <a:ext cx="1828800" cy="1097280"/>
          </a:xfrm>
          <a:prstGeom prst="rect">
            <a:avLst/>
          </a:prstGeom>
          <a:noFill/>
          <a:ln/>
        </p:spPr>
        <p:txBody>
          <a:bodyPr wrap="square" rtlCol="0" anchor="ctr"/>
          <a:lstStyle/>
          <a:p>
            <a:pPr algn="ctr" indent="0" marL="0">
              <a:buNone/>
            </a:pPr>
            <a:r>
              <a:rPr lang="en-US" sz="5200" dirty="0">
                <a:solidFill>
                  <a:srgbClr val="E8871A">
                    <a:alpha val="85000"/>
                  </a:srgbClr>
                </a:solidFill>
                <a:latin typeface="Georgia" pitchFamily="34" charset="0"/>
                <a:ea typeface="Georgia" pitchFamily="34" charset="-122"/>
                <a:cs typeface="Georgia" pitchFamily="34" charset="-120"/>
              </a:rPr>
              <a:t>ॐ</a:t>
            </a:r>
            <a:endParaRPr lang="en-US" sz="5200" dirty="0"/>
          </a:p>
        </p:txBody>
      </p:sp>
      <p:sp>
        <p:nvSpPr>
          <p:cNvPr id="5" name="Text 3"/>
          <p:cNvSpPr/>
          <p:nvPr/>
        </p:nvSpPr>
        <p:spPr>
          <a:xfrm>
            <a:off x="457200" y="1005840"/>
            <a:ext cx="8229600" cy="502920"/>
          </a:xfrm>
          <a:prstGeom prst="rect">
            <a:avLst/>
          </a:prstGeom>
          <a:noFill/>
          <a:ln/>
        </p:spPr>
        <p:txBody>
          <a:bodyPr wrap="square" lIns="0" tIns="0" rIns="0" bIns="0" rtlCol="0" anchor="ctr"/>
          <a:lstStyle/>
          <a:p>
            <a:pPr algn="ctr" indent="0" marL="0">
              <a:buNone/>
            </a:pPr>
            <a:r>
              <a:rPr lang="en-US" sz="3000" b="1" dirty="0">
                <a:solidFill>
                  <a:srgbClr val="F5C842"/>
                </a:solidFill>
                <a:latin typeface="Georgia" pitchFamily="34" charset="0"/>
                <a:ea typeface="Georgia" pitchFamily="34" charset="-122"/>
                <a:cs typeface="Georgia" pitchFamily="34" charset="-120"/>
              </a:rPr>
              <a:t>Conclusion</a:t>
            </a:r>
            <a:endParaRPr lang="en-US" sz="3000" dirty="0"/>
          </a:p>
        </p:txBody>
      </p:sp>
      <p:sp>
        <p:nvSpPr>
          <p:cNvPr id="6" name="Shape 4"/>
          <p:cNvSpPr/>
          <p:nvPr/>
        </p:nvSpPr>
        <p:spPr>
          <a:xfrm>
            <a:off x="3200400" y="1554480"/>
            <a:ext cx="2743200" cy="36576"/>
          </a:xfrm>
          <a:prstGeom prst="rect">
            <a:avLst/>
          </a:prstGeom>
          <a:solidFill>
            <a:srgbClr val="E8871A"/>
          </a:solidFill>
          <a:ln w="12700">
            <a:solidFill>
              <a:srgbClr val="E8871A"/>
            </a:solidFill>
            <a:prstDash val="solid"/>
          </a:ln>
        </p:spPr>
      </p:sp>
      <p:sp>
        <p:nvSpPr>
          <p:cNvPr id="7" name="Text 5"/>
          <p:cNvSpPr/>
          <p:nvPr/>
        </p:nvSpPr>
        <p:spPr>
          <a:xfrm>
            <a:off x="640080" y="1737360"/>
            <a:ext cx="7863840" cy="1280160"/>
          </a:xfrm>
          <a:prstGeom prst="rect">
            <a:avLst/>
          </a:prstGeom>
          <a:noFill/>
          <a:ln/>
        </p:spPr>
        <p:txBody>
          <a:bodyPr wrap="square" lIns="0" tIns="0" rIns="0" bIns="0" rtlCol="0" anchor="t"/>
          <a:lstStyle/>
          <a:p>
            <a:pPr algn="ctr" indent="0" marL="0">
              <a:buNone/>
            </a:pPr>
            <a:r>
              <a:rPr lang="en-US" sz="1350" dirty="0">
                <a:solidFill>
                  <a:srgbClr val="FFF8E7"/>
                </a:solidFill>
                <a:latin typeface="Calibri" pitchFamily="34" charset="0"/>
                <a:ea typeface="Calibri" pitchFamily="34" charset="-122"/>
                <a:cs typeface="Calibri" pitchFamily="34" charset="-120"/>
              </a:rPr>
              <a:t>The Bhagavad Gita AI Chatbot is more than a technology project — it is a bridge between timeless wisdom and the modern world. By harnessing the power of AI, we make the Gita's profound teachings accessible to everyone, everywhere, in their language and time of need.</a:t>
            </a:r>
            <a:endParaRPr lang="en-US" sz="1350" dirty="0"/>
          </a:p>
        </p:txBody>
      </p:sp>
      <p:sp>
        <p:nvSpPr>
          <p:cNvPr id="8" name="Shape 6"/>
          <p:cNvSpPr/>
          <p:nvPr/>
        </p:nvSpPr>
        <p:spPr>
          <a:xfrm>
            <a:off x="1097280" y="3154680"/>
            <a:ext cx="1005840" cy="1005840"/>
          </a:xfrm>
          <a:prstGeom prst="ellipse">
            <a:avLst/>
          </a:prstGeom>
          <a:solidFill>
            <a:srgbClr val="E8871A"/>
          </a:solidFill>
          <a:ln w="12700">
            <a:solidFill>
              <a:srgbClr val="E8871A"/>
            </a:solidFill>
            <a:prstDash val="solid"/>
          </a:ln>
        </p:spPr>
      </p:sp>
      <p:sp>
        <p:nvSpPr>
          <p:cNvPr id="9" name="Text 7"/>
          <p:cNvSpPr/>
          <p:nvPr/>
        </p:nvSpPr>
        <p:spPr>
          <a:xfrm>
            <a:off x="1097280" y="3200400"/>
            <a:ext cx="100584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822960" y="4224528"/>
            <a:ext cx="1554480" cy="320040"/>
          </a:xfrm>
          <a:prstGeom prst="rect">
            <a:avLst/>
          </a:prstGeom>
          <a:noFill/>
          <a:ln/>
        </p:spPr>
        <p:txBody>
          <a:bodyPr wrap="square" lIns="0" tIns="0" rIns="0" bIns="0" rtlCol="0" anchor="ctr"/>
          <a:lstStyle/>
          <a:p>
            <a:pPr algn="ctr" indent="0" marL="0">
              <a:buNone/>
            </a:pPr>
            <a:r>
              <a:rPr lang="en-US" sz="1300" b="1" dirty="0">
                <a:solidFill>
                  <a:srgbClr val="F5C842"/>
                </a:solidFill>
                <a:latin typeface="Georgia" pitchFamily="34" charset="0"/>
                <a:ea typeface="Georgia" pitchFamily="34" charset="-122"/>
                <a:cs typeface="Georgia" pitchFamily="34" charset="-120"/>
              </a:rPr>
              <a:t>Preserve</a:t>
            </a:r>
            <a:endParaRPr lang="en-US" sz="1300" dirty="0"/>
          </a:p>
        </p:txBody>
      </p:sp>
      <p:sp>
        <p:nvSpPr>
          <p:cNvPr id="11" name="Text 9"/>
          <p:cNvSpPr/>
          <p:nvPr/>
        </p:nvSpPr>
        <p:spPr>
          <a:xfrm>
            <a:off x="822960" y="4553712"/>
            <a:ext cx="1554480" cy="274320"/>
          </a:xfrm>
          <a:prstGeom prst="rect">
            <a:avLst/>
          </a:prstGeom>
          <a:noFill/>
          <a:ln/>
        </p:spPr>
        <p:txBody>
          <a:bodyPr wrap="square" lIns="0" tIns="0" rIns="0" bIns="0" rtlCol="0" anchor="ctr"/>
          <a:lstStyle/>
          <a:p>
            <a:pPr algn="ctr" indent="0" marL="0">
              <a:buNone/>
            </a:pPr>
            <a:r>
              <a:rPr lang="en-US" sz="1100" dirty="0">
                <a:solidFill>
                  <a:srgbClr val="C4A96B"/>
                </a:solidFill>
                <a:latin typeface="Calibri" pitchFamily="34" charset="0"/>
                <a:ea typeface="Calibri" pitchFamily="34" charset="-122"/>
                <a:cs typeface="Calibri" pitchFamily="34" charset="-120"/>
              </a:rPr>
              <a:t>Ancient Knowledge</a:t>
            </a:r>
            <a:endParaRPr lang="en-US" sz="1100" dirty="0"/>
          </a:p>
        </p:txBody>
      </p:sp>
      <p:sp>
        <p:nvSpPr>
          <p:cNvPr id="12" name="Shape 10"/>
          <p:cNvSpPr/>
          <p:nvPr/>
        </p:nvSpPr>
        <p:spPr>
          <a:xfrm>
            <a:off x="3749040" y="3154680"/>
            <a:ext cx="1005840" cy="1005840"/>
          </a:xfrm>
          <a:prstGeom prst="ellipse">
            <a:avLst/>
          </a:prstGeom>
          <a:solidFill>
            <a:srgbClr val="E8871A"/>
          </a:solidFill>
          <a:ln w="12700">
            <a:solidFill>
              <a:srgbClr val="E8871A"/>
            </a:solidFill>
            <a:prstDash val="solid"/>
          </a:ln>
        </p:spPr>
      </p:sp>
      <p:sp>
        <p:nvSpPr>
          <p:cNvPr id="13" name="Text 11"/>
          <p:cNvSpPr/>
          <p:nvPr/>
        </p:nvSpPr>
        <p:spPr>
          <a:xfrm>
            <a:off x="3749040" y="3200400"/>
            <a:ext cx="100584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3474720" y="4224528"/>
            <a:ext cx="1554480" cy="320040"/>
          </a:xfrm>
          <a:prstGeom prst="rect">
            <a:avLst/>
          </a:prstGeom>
          <a:noFill/>
          <a:ln/>
        </p:spPr>
        <p:txBody>
          <a:bodyPr wrap="square" lIns="0" tIns="0" rIns="0" bIns="0" rtlCol="0" anchor="ctr"/>
          <a:lstStyle/>
          <a:p>
            <a:pPr algn="ctr" indent="0" marL="0">
              <a:buNone/>
            </a:pPr>
            <a:r>
              <a:rPr lang="en-US" sz="1300" b="1" dirty="0">
                <a:solidFill>
                  <a:srgbClr val="F5C842"/>
                </a:solidFill>
                <a:latin typeface="Georgia" pitchFamily="34" charset="0"/>
                <a:ea typeface="Georgia" pitchFamily="34" charset="-122"/>
                <a:cs typeface="Georgia" pitchFamily="34" charset="-120"/>
              </a:rPr>
              <a:t>Connect</a:t>
            </a:r>
            <a:endParaRPr lang="en-US" sz="1300" dirty="0"/>
          </a:p>
        </p:txBody>
      </p:sp>
      <p:sp>
        <p:nvSpPr>
          <p:cNvPr id="15" name="Text 13"/>
          <p:cNvSpPr/>
          <p:nvPr/>
        </p:nvSpPr>
        <p:spPr>
          <a:xfrm>
            <a:off x="3474720" y="4553712"/>
            <a:ext cx="1554480" cy="274320"/>
          </a:xfrm>
          <a:prstGeom prst="rect">
            <a:avLst/>
          </a:prstGeom>
          <a:noFill/>
          <a:ln/>
        </p:spPr>
        <p:txBody>
          <a:bodyPr wrap="square" lIns="0" tIns="0" rIns="0" bIns="0" rtlCol="0" anchor="ctr"/>
          <a:lstStyle/>
          <a:p>
            <a:pPr algn="ctr" indent="0" marL="0">
              <a:buNone/>
            </a:pPr>
            <a:r>
              <a:rPr lang="en-US" sz="1100" dirty="0">
                <a:solidFill>
                  <a:srgbClr val="C4A96B"/>
                </a:solidFill>
                <a:latin typeface="Calibri" pitchFamily="34" charset="0"/>
                <a:ea typeface="Calibri" pitchFamily="34" charset="-122"/>
                <a:cs typeface="Calibri" pitchFamily="34" charset="-120"/>
              </a:rPr>
              <a:t>People to Wisdom</a:t>
            </a:r>
            <a:endParaRPr lang="en-US" sz="1100" dirty="0"/>
          </a:p>
        </p:txBody>
      </p:sp>
      <p:sp>
        <p:nvSpPr>
          <p:cNvPr id="16" name="Shape 14"/>
          <p:cNvSpPr/>
          <p:nvPr/>
        </p:nvSpPr>
        <p:spPr>
          <a:xfrm>
            <a:off x="6400800" y="3154680"/>
            <a:ext cx="1005840" cy="1005840"/>
          </a:xfrm>
          <a:prstGeom prst="ellipse">
            <a:avLst/>
          </a:prstGeom>
          <a:solidFill>
            <a:srgbClr val="E8871A"/>
          </a:solidFill>
          <a:ln w="12700">
            <a:solidFill>
              <a:srgbClr val="E8871A"/>
            </a:solidFill>
            <a:prstDash val="solid"/>
          </a:ln>
        </p:spPr>
      </p:sp>
      <p:sp>
        <p:nvSpPr>
          <p:cNvPr id="17" name="Text 15"/>
          <p:cNvSpPr/>
          <p:nvPr/>
        </p:nvSpPr>
        <p:spPr>
          <a:xfrm>
            <a:off x="6400800" y="3200400"/>
            <a:ext cx="100584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6126480" y="4224528"/>
            <a:ext cx="1554480" cy="320040"/>
          </a:xfrm>
          <a:prstGeom prst="rect">
            <a:avLst/>
          </a:prstGeom>
          <a:noFill/>
          <a:ln/>
        </p:spPr>
        <p:txBody>
          <a:bodyPr wrap="square" lIns="0" tIns="0" rIns="0" bIns="0" rtlCol="0" anchor="ctr"/>
          <a:lstStyle/>
          <a:p>
            <a:pPr algn="ctr" indent="0" marL="0">
              <a:buNone/>
            </a:pPr>
            <a:r>
              <a:rPr lang="en-US" sz="1300" b="1" dirty="0">
                <a:solidFill>
                  <a:srgbClr val="F5C842"/>
                </a:solidFill>
                <a:latin typeface="Georgia" pitchFamily="34" charset="0"/>
                <a:ea typeface="Georgia" pitchFamily="34" charset="-122"/>
                <a:cs typeface="Georgia" pitchFamily="34" charset="-120"/>
              </a:rPr>
              <a:t>Innovate</a:t>
            </a:r>
            <a:endParaRPr lang="en-US" sz="1300" dirty="0"/>
          </a:p>
        </p:txBody>
      </p:sp>
      <p:sp>
        <p:nvSpPr>
          <p:cNvPr id="19" name="Text 17"/>
          <p:cNvSpPr/>
          <p:nvPr/>
        </p:nvSpPr>
        <p:spPr>
          <a:xfrm>
            <a:off x="6126480" y="4553712"/>
            <a:ext cx="1554480" cy="274320"/>
          </a:xfrm>
          <a:prstGeom prst="rect">
            <a:avLst/>
          </a:prstGeom>
          <a:noFill/>
          <a:ln/>
        </p:spPr>
        <p:txBody>
          <a:bodyPr wrap="square" lIns="0" tIns="0" rIns="0" bIns="0" rtlCol="0" anchor="ctr"/>
          <a:lstStyle/>
          <a:p>
            <a:pPr algn="ctr" indent="0" marL="0">
              <a:buNone/>
            </a:pPr>
            <a:r>
              <a:rPr lang="en-US" sz="1100" dirty="0">
                <a:solidFill>
                  <a:srgbClr val="C4A96B"/>
                </a:solidFill>
                <a:latin typeface="Calibri" pitchFamily="34" charset="0"/>
                <a:ea typeface="Calibri" pitchFamily="34" charset="-122"/>
                <a:cs typeface="Calibri" pitchFamily="34" charset="-120"/>
              </a:rPr>
              <a:t>With Purpose</a:t>
            </a:r>
            <a:endParaRPr lang="en-US" sz="1100" dirty="0"/>
          </a:p>
        </p:txBody>
      </p:sp>
      <p:sp>
        <p:nvSpPr>
          <p:cNvPr id="20" name="Shape 18"/>
          <p:cNvSpPr/>
          <p:nvPr/>
        </p:nvSpPr>
        <p:spPr>
          <a:xfrm>
            <a:off x="0" y="4864608"/>
            <a:ext cx="9144000" cy="283464"/>
          </a:xfrm>
          <a:prstGeom prst="rect">
            <a:avLst/>
          </a:prstGeom>
          <a:solidFill>
            <a:srgbClr val="2D1B69"/>
          </a:solidFill>
          <a:ln w="12700">
            <a:solidFill>
              <a:srgbClr val="2D1B69"/>
            </a:solidFill>
            <a:prstDash val="solid"/>
          </a:ln>
        </p:spPr>
      </p:sp>
      <p:sp>
        <p:nvSpPr>
          <p:cNvPr id="21" name="Text 19"/>
          <p:cNvSpPr/>
          <p:nvPr/>
        </p:nvSpPr>
        <p:spPr>
          <a:xfrm>
            <a:off x="0" y="4873752"/>
            <a:ext cx="9144000" cy="256032"/>
          </a:xfrm>
          <a:prstGeom prst="rect">
            <a:avLst/>
          </a:prstGeom>
          <a:noFill/>
          <a:ln/>
        </p:spPr>
        <p:txBody>
          <a:bodyPr wrap="square" lIns="0" tIns="0" rIns="0" bIns="0" rtlCol="0" anchor="ctr"/>
          <a:lstStyle/>
          <a:p>
            <a:pPr algn="ctr" indent="0" marL="0">
              <a:buNone/>
            </a:pPr>
            <a:r>
              <a:rPr lang="en-US" sz="1000" i="1" dirty="0">
                <a:solidFill>
                  <a:srgbClr val="C4A96B"/>
                </a:solidFill>
                <a:latin typeface="Georgia" pitchFamily="34" charset="0"/>
                <a:ea typeface="Georgia" pitchFamily="34" charset="-122"/>
                <a:cs typeface="Georgia" pitchFamily="34" charset="-120"/>
              </a:rPr>
              <a:t>"Yogah karmasu kaushalam" — Excellence in action is Yoga  ·  Bhagavad Gita 2.50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Bhagavad Gita AI Chatbot</dc:title>
  <dc:subject>PptxGenJS Presentation</dc:subject>
  <dc:creator>PptxGenJS</dc:creator>
  <cp:lastModifiedBy>PptxGenJS</cp:lastModifiedBy>
  <cp:revision>1</cp:revision>
  <dcterms:created xsi:type="dcterms:W3CDTF">2026-05-14T04:33:47Z</dcterms:created>
  <dcterms:modified xsi:type="dcterms:W3CDTF">2026-05-14T04:33:47Z</dcterms:modified>
</cp:coreProperties>
</file>